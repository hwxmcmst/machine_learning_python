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4"/>
  </p:notesMasterIdLst>
  <p:sldIdLst>
    <p:sldId id="314" r:id="rId3"/>
    <p:sldId id="266" r:id="rId4"/>
    <p:sldId id="267" r:id="rId5"/>
    <p:sldId id="315" r:id="rId6"/>
    <p:sldId id="316" r:id="rId7"/>
    <p:sldId id="319" r:id="rId8"/>
    <p:sldId id="317" r:id="rId9"/>
    <p:sldId id="318" r:id="rId10"/>
    <p:sldId id="320" r:id="rId11"/>
    <p:sldId id="321" r:id="rId12"/>
    <p:sldId id="32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9" autoAdjust="0"/>
    <p:restoredTop sz="95740" autoAdjust="0"/>
  </p:normalViewPr>
  <p:slideViewPr>
    <p:cSldViewPr snapToGrid="0">
      <p:cViewPr>
        <p:scale>
          <a:sx n="109" d="100"/>
          <a:sy n="109" d="100"/>
        </p:scale>
        <p:origin x="-84" y="-2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C5D0B7-1CFB-498E-8976-83D61353BA47}" type="datetimeFigureOut">
              <a:rPr lang="zh-CN" altLang="en-US" smtClean="0"/>
              <a:t>2018/4/27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F281-0DF2-402A-A31E-AB7FEF94085D}" type="slidenum">
              <a:rPr lang="zh-CN" altLang="en-US" smtClean="0"/>
              <a:t>‹#›</a:t>
            </a:fld>
            <a:endParaRPr lang="zh-CN" altLang="en-US"/>
          </a:p>
        </p:txBody>
      </p:sp>
    </p:spTree>
    <p:extLst>
      <p:ext uri="{BB962C8B-B14F-4D97-AF65-F5344CB8AC3E}">
        <p14:creationId xmlns:p14="http://schemas.microsoft.com/office/powerpoint/2010/main" val="3992084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C6F281-0DF2-402A-A31E-AB7FEF94085D}" type="slidenum">
              <a:rPr lang="zh-CN" altLang="en-US" smtClean="0"/>
              <a:t>11</a:t>
            </a:fld>
            <a:endParaRPr lang="zh-CN" altLang="en-US"/>
          </a:p>
        </p:txBody>
      </p:sp>
    </p:spTree>
    <p:extLst>
      <p:ext uri="{BB962C8B-B14F-4D97-AF65-F5344CB8AC3E}">
        <p14:creationId xmlns:p14="http://schemas.microsoft.com/office/powerpoint/2010/main" val="148668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C15F405-928C-4D5A-AA53-6923AFC2861D}" type="datetimeFigureOut">
              <a:rPr lang="en-US" smtClean="0"/>
              <a:t>4/27/2018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1966600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15F405-928C-4D5A-AA53-6923AFC2861D}" type="datetimeFigureOut">
              <a:rPr lang="en-US" smtClean="0"/>
              <a:t>4/27/2018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194241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5F405-928C-4D5A-AA53-6923AFC2861D}" type="datetimeFigureOut">
              <a:rPr lang="en-US" smtClean="0"/>
              <a:t>4/27/2018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247731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C15F405-928C-4D5A-AA53-6923AFC2861D}" type="datetimeFigureOut">
              <a:rPr lang="en-US" smtClean="0"/>
              <a:t>4/27/2018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1797932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15F405-928C-4D5A-AA53-6923AFC2861D}" type="datetimeFigureOut">
              <a:rPr lang="en-US" smtClean="0"/>
              <a:t>4/27/2018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296277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15F405-928C-4D5A-AA53-6923AFC2861D}" type="datetimeFigureOut">
              <a:rPr lang="en-US" smtClean="0"/>
              <a:t>4/27/2018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486666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15F405-928C-4D5A-AA53-6923AFC2861D}" type="datetimeFigureOut">
              <a:rPr lang="en-US" smtClean="0"/>
              <a:t>4/27/2018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3870122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15F405-928C-4D5A-AA53-6923AFC2861D}" type="datetimeFigureOut">
              <a:rPr lang="en-US" smtClean="0"/>
              <a:t>4/27/2018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1412685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15F405-928C-4D5A-AA53-6923AFC2861D}" type="datetimeFigureOut">
              <a:rPr lang="en-US" smtClean="0"/>
              <a:t>4/27/2018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796125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15F405-928C-4D5A-AA53-6923AFC2861D}" type="datetimeFigureOut">
              <a:rPr lang="en-US" smtClean="0"/>
              <a:t>4/27/2018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2038782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15F405-928C-4D5A-AA53-6923AFC2861D}" type="datetimeFigureOut">
              <a:rPr lang="en-US" smtClean="0"/>
              <a:t>4/27/2018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F37BD9-25C7-483B-B2BE-558565B1F321}" type="slidenum">
              <a:rPr lang="en-US" smtClean="0"/>
              <a:t>‹#›</a:t>
            </a:fld>
            <a:endParaRPr lang="en-US"/>
          </a:p>
        </p:txBody>
      </p:sp>
    </p:spTree>
    <p:extLst>
      <p:ext uri="{BB962C8B-B14F-4D97-AF65-F5344CB8AC3E}">
        <p14:creationId xmlns:p14="http://schemas.microsoft.com/office/powerpoint/2010/main" val="875335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er + SubHeader + Content">
    <p:spTree>
      <p:nvGrpSpPr>
        <p:cNvPr id="1" name=""/>
        <p:cNvGrpSpPr/>
        <p:nvPr/>
      </p:nvGrpSpPr>
      <p:grpSpPr>
        <a:xfrm>
          <a:off x="0" y="0"/>
          <a:ext cx="0" cy="0"/>
          <a:chOff x="0" y="0"/>
          <a:chExt cx="0" cy="0"/>
        </a:xfrm>
      </p:grpSpPr>
      <p:sp>
        <p:nvSpPr>
          <p:cNvPr id="4" name="Text Placeholder 9"/>
          <p:cNvSpPr>
            <a:spLocks noGrp="1"/>
          </p:cNvSpPr>
          <p:nvPr>
            <p:ph type="body" sz="quarter" idx="11" hasCustomPrompt="1"/>
          </p:nvPr>
        </p:nvSpPr>
        <p:spPr>
          <a:xfrm>
            <a:off x="879074" y="2320239"/>
            <a:ext cx="10929485" cy="3810087"/>
          </a:xfrm>
          <a:prstGeom prst="rect">
            <a:avLst/>
          </a:prstGeom>
        </p:spPr>
        <p:txBody>
          <a:bodyPr/>
          <a:lstStyle>
            <a:lvl1pPr marL="457189" indent="-457189">
              <a:buFont typeface="Lucida Grande"/>
              <a:buChar char="&gt;"/>
              <a:defRPr sz="3200" b="0" i="0" baseline="0">
                <a:solidFill>
                  <a:srgbClr val="005F83"/>
                </a:solidFill>
                <a:latin typeface="Orgon Slab ExtraLight"/>
                <a:cs typeface="Orgon Slab ExtraLight"/>
              </a:defRPr>
            </a:lvl1pPr>
            <a:lvl2pPr>
              <a:defRPr sz="2667" b="0" i="0" baseline="0">
                <a:solidFill>
                  <a:srgbClr val="005F83"/>
                </a:solidFill>
                <a:latin typeface="Orgon Slab ExtraLight"/>
                <a:cs typeface="Orgon Slab ExtraLight"/>
              </a:defRPr>
            </a:lvl2pPr>
            <a:lvl3pPr marL="1523962" indent="-304792">
              <a:buSzPct val="100000"/>
              <a:buFont typeface="Lucida Grande"/>
              <a:buChar char="&gt;"/>
              <a:defRPr sz="2400" b="0" i="0" baseline="0">
                <a:solidFill>
                  <a:srgbClr val="005F83"/>
                </a:solidFill>
                <a:latin typeface="Orgon Slab ExtraLight"/>
                <a:cs typeface="Orgon Slab ExtraLight"/>
              </a:defRPr>
            </a:lvl3pPr>
            <a:lvl4pPr>
              <a:defRPr sz="2133" b="0" i="0" baseline="0">
                <a:solidFill>
                  <a:srgbClr val="005F83"/>
                </a:solidFill>
                <a:latin typeface="Orgon Slab ExtraLight"/>
                <a:cs typeface="Orgon Slab ExtraLight"/>
              </a:defRPr>
            </a:lvl4pPr>
            <a:lvl5pPr marL="2743131" indent="-304792">
              <a:buFont typeface="Lucida Grande"/>
              <a:buChar char="&gt;"/>
              <a:defRPr sz="1867" b="0" i="0" baseline="0">
                <a:solidFill>
                  <a:srgbClr val="005F83"/>
                </a:solidFill>
                <a:latin typeface="Orgon Slab ExtraLight"/>
                <a:cs typeface="Orgon Slab ExtraLight"/>
              </a:defRPr>
            </a:lvl5pPr>
          </a:lstStyle>
          <a:p>
            <a:pPr lvl="0"/>
            <a:r>
              <a:rPr lang="en-US" dirty="0"/>
              <a:t>Content here (</a:t>
            </a:r>
            <a:r>
              <a:rPr lang="en-US" dirty="0" err="1"/>
              <a:t>Orgon</a:t>
            </a:r>
            <a:r>
              <a:rPr lang="en-US" dirty="0"/>
              <a:t> Slab </a:t>
            </a:r>
            <a:r>
              <a:rPr lang="en-US" dirty="0" err="1"/>
              <a:t>ExtraLight</a:t>
            </a:r>
            <a:r>
              <a:rPr lang="en-US" dirty="0"/>
              <a:t>, 24 pt.)</a:t>
            </a:r>
          </a:p>
          <a:p>
            <a:pPr lvl="1"/>
            <a:r>
              <a:rPr lang="en-US" dirty="0"/>
              <a:t>Second level (</a:t>
            </a:r>
            <a:r>
              <a:rPr lang="en-US" dirty="0" err="1"/>
              <a:t>Orgon</a:t>
            </a:r>
            <a:r>
              <a:rPr lang="en-US" dirty="0"/>
              <a:t> Slab </a:t>
            </a:r>
            <a:r>
              <a:rPr lang="en-US" dirty="0" err="1"/>
              <a:t>ExtraLight</a:t>
            </a:r>
            <a:r>
              <a:rPr lang="en-US" dirty="0"/>
              <a:t>, 20)</a:t>
            </a:r>
          </a:p>
          <a:p>
            <a:pPr lvl="2"/>
            <a:r>
              <a:rPr lang="en-US" dirty="0"/>
              <a:t>Third level (</a:t>
            </a:r>
            <a:r>
              <a:rPr lang="en-US" dirty="0" err="1"/>
              <a:t>Orgon</a:t>
            </a:r>
            <a:r>
              <a:rPr lang="en-US" dirty="0"/>
              <a:t> Slab </a:t>
            </a:r>
            <a:r>
              <a:rPr lang="en-US" dirty="0" err="1"/>
              <a:t>ExtraLight</a:t>
            </a:r>
            <a:r>
              <a:rPr lang="en-US" dirty="0"/>
              <a:t>, 18)</a:t>
            </a:r>
          </a:p>
          <a:p>
            <a:pPr lvl="3"/>
            <a:r>
              <a:rPr lang="en-US" dirty="0"/>
              <a:t>Fourth level (</a:t>
            </a:r>
            <a:r>
              <a:rPr lang="en-US" dirty="0" err="1"/>
              <a:t>Orgon</a:t>
            </a:r>
            <a:r>
              <a:rPr lang="en-US" dirty="0"/>
              <a:t> Slab </a:t>
            </a:r>
            <a:r>
              <a:rPr lang="en-US" dirty="0" err="1"/>
              <a:t>ExtraLight</a:t>
            </a:r>
            <a:r>
              <a:rPr lang="en-US" dirty="0"/>
              <a:t>, 16)</a:t>
            </a:r>
          </a:p>
          <a:p>
            <a:pPr lvl="4"/>
            <a:r>
              <a:rPr lang="en-US" dirty="0"/>
              <a:t>Fifth level (</a:t>
            </a:r>
            <a:r>
              <a:rPr lang="en-US" dirty="0" err="1"/>
              <a:t>Orgon</a:t>
            </a:r>
            <a:r>
              <a:rPr lang="en-US" dirty="0"/>
              <a:t> Slab </a:t>
            </a:r>
            <a:r>
              <a:rPr lang="en-US" dirty="0" err="1"/>
              <a:t>ExtraLight</a:t>
            </a:r>
            <a:r>
              <a:rPr lang="en-US" dirty="0"/>
              <a:t>, 14)</a:t>
            </a:r>
          </a:p>
        </p:txBody>
      </p:sp>
      <p:sp>
        <p:nvSpPr>
          <p:cNvPr id="5" name="Text Placeholder 5"/>
          <p:cNvSpPr>
            <a:spLocks noGrp="1"/>
          </p:cNvSpPr>
          <p:nvPr>
            <p:ph type="body" sz="quarter" idx="12" hasCustomPrompt="1"/>
          </p:nvPr>
        </p:nvSpPr>
        <p:spPr>
          <a:xfrm>
            <a:off x="895676" y="1730668"/>
            <a:ext cx="10912883" cy="411171"/>
          </a:xfrm>
          <a:prstGeom prst="rect">
            <a:avLst/>
          </a:prstGeom>
        </p:spPr>
        <p:txBody>
          <a:bodyPr>
            <a:noAutofit/>
          </a:bodyPr>
          <a:lstStyle>
            <a:lvl1pPr marL="0" indent="0">
              <a:lnSpc>
                <a:spcPct val="90000"/>
              </a:lnSpc>
              <a:buNone/>
              <a:defRPr sz="3200" b="0" i="0" baseline="0">
                <a:solidFill>
                  <a:srgbClr val="005F83"/>
                </a:solidFill>
                <a:latin typeface="Orgon Slab Light"/>
                <a:cs typeface="Orgon Slab Light"/>
              </a:defRPr>
            </a:lvl1pPr>
            <a:lvl2pPr marL="609585" indent="0">
              <a:buNone/>
              <a:defRPr b="0" i="0">
                <a:solidFill>
                  <a:srgbClr val="E8D3A2"/>
                </a:solidFill>
                <a:latin typeface="Encode Sans Normal Black"/>
                <a:cs typeface="Encode Sans Normal Black"/>
              </a:defRPr>
            </a:lvl2pPr>
            <a:lvl3pPr marL="1219170" indent="0">
              <a:buNone/>
              <a:defRPr b="0" i="0">
                <a:solidFill>
                  <a:srgbClr val="E8D3A2"/>
                </a:solidFill>
                <a:latin typeface="Encode Sans Normal Black"/>
                <a:cs typeface="Encode Sans Normal Black"/>
              </a:defRPr>
            </a:lvl3pPr>
            <a:lvl4pPr marL="1828754" indent="0">
              <a:buNone/>
              <a:defRPr b="0" i="0">
                <a:solidFill>
                  <a:srgbClr val="E8D3A2"/>
                </a:solidFill>
                <a:latin typeface="Encode Sans Normal Black"/>
                <a:cs typeface="Encode Sans Normal Black"/>
              </a:defRPr>
            </a:lvl4pPr>
            <a:lvl5pPr marL="2438339" indent="0">
              <a:buNone/>
              <a:defRPr b="0" i="0">
                <a:solidFill>
                  <a:srgbClr val="E8D3A2"/>
                </a:solidFill>
                <a:latin typeface="Encode Sans Normal Black"/>
                <a:cs typeface="Encode Sans Normal Black"/>
              </a:defRPr>
            </a:lvl5pPr>
          </a:lstStyle>
          <a:p>
            <a:pPr lvl="0"/>
            <a:r>
              <a:rPr lang="en-US" dirty="0"/>
              <a:t>SUB-HEADER HERE (ORGON SLAB LIGHT, 24 PT.)</a:t>
            </a:r>
          </a:p>
        </p:txBody>
      </p:sp>
      <p:sp>
        <p:nvSpPr>
          <p:cNvPr id="11" name="Rectangle 10"/>
          <p:cNvSpPr/>
          <p:nvPr userDrawn="1"/>
        </p:nvSpPr>
        <p:spPr>
          <a:xfrm>
            <a:off x="-3" y="-12829"/>
            <a:ext cx="12192004" cy="1113496"/>
          </a:xfrm>
          <a:prstGeom prst="rect">
            <a:avLst/>
          </a:prstGeom>
          <a:solidFill>
            <a:srgbClr val="5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2" name="Picture 11" descr="MinersDigDeeper.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933" y="6223589"/>
            <a:ext cx="12192000" cy="710611"/>
          </a:xfrm>
          <a:prstGeom prst="rect">
            <a:avLst/>
          </a:prstGeom>
        </p:spPr>
      </p:pic>
      <p:pic>
        <p:nvPicPr>
          <p:cNvPr id="13" name="Picture 12" descr="DotPattern_309.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25234"/>
            <a:ext cx="3674533" cy="628268"/>
          </a:xfrm>
          <a:prstGeom prst="rect">
            <a:avLst/>
          </a:prstGeom>
        </p:spPr>
      </p:pic>
      <p:sp>
        <p:nvSpPr>
          <p:cNvPr id="15" name="Text Placeholder 5"/>
          <p:cNvSpPr>
            <a:spLocks noGrp="1"/>
          </p:cNvSpPr>
          <p:nvPr>
            <p:ph type="body" sz="quarter" idx="10" hasCustomPrompt="1"/>
          </p:nvPr>
        </p:nvSpPr>
        <p:spPr>
          <a:xfrm>
            <a:off x="658610" y="467080"/>
            <a:ext cx="11160857" cy="460021"/>
          </a:xfrm>
          <a:prstGeom prst="rect">
            <a:avLst/>
          </a:prstGeom>
          <a:ln>
            <a:noFill/>
          </a:ln>
        </p:spPr>
        <p:txBody>
          <a:bodyPr>
            <a:normAutofit/>
          </a:bodyPr>
          <a:lstStyle>
            <a:lvl1pPr marL="0" indent="0">
              <a:lnSpc>
                <a:spcPct val="100000"/>
              </a:lnSpc>
              <a:buNone/>
              <a:defRPr sz="4000" b="0" i="0" baseline="0">
                <a:solidFill>
                  <a:schemeClr val="bg2"/>
                </a:solidFill>
                <a:latin typeface="Orgon Slab Medium"/>
                <a:cs typeface="Orgon Slab Medium"/>
              </a:defRPr>
            </a:lvl1pPr>
            <a:lvl2pPr marL="609585" indent="0">
              <a:buNone/>
              <a:defRPr b="0" i="0">
                <a:solidFill>
                  <a:srgbClr val="E8D3A2"/>
                </a:solidFill>
                <a:latin typeface="Encode Sans Normal Black"/>
                <a:cs typeface="Encode Sans Normal Black"/>
              </a:defRPr>
            </a:lvl2pPr>
            <a:lvl3pPr marL="1219170" indent="0">
              <a:buNone/>
              <a:defRPr b="0" i="0">
                <a:solidFill>
                  <a:srgbClr val="E8D3A2"/>
                </a:solidFill>
                <a:latin typeface="Encode Sans Normal Black"/>
                <a:cs typeface="Encode Sans Normal Black"/>
              </a:defRPr>
            </a:lvl3pPr>
            <a:lvl4pPr marL="1828754" indent="0">
              <a:buNone/>
              <a:defRPr b="0" i="0">
                <a:solidFill>
                  <a:srgbClr val="E8D3A2"/>
                </a:solidFill>
                <a:latin typeface="Encode Sans Normal Black"/>
                <a:cs typeface="Encode Sans Normal Black"/>
              </a:defRPr>
            </a:lvl4pPr>
            <a:lvl5pPr marL="2438339" indent="0">
              <a:buNone/>
              <a:defRPr b="0" i="0">
                <a:solidFill>
                  <a:srgbClr val="E8D3A2"/>
                </a:solidFill>
                <a:latin typeface="Encode Sans Normal Black"/>
                <a:cs typeface="Encode Sans Normal Black"/>
              </a:defRPr>
            </a:lvl5pPr>
          </a:lstStyle>
          <a:p>
            <a:pPr lvl="0"/>
            <a:r>
              <a:rPr lang="en-US" dirty="0"/>
              <a:t>HEADER HERE (ORGON SLAB MEDIUM 30 PT)</a:t>
            </a:r>
          </a:p>
        </p:txBody>
      </p:sp>
    </p:spTree>
    <p:extLst>
      <p:ext uri="{BB962C8B-B14F-4D97-AF65-F5344CB8AC3E}">
        <p14:creationId xmlns:p14="http://schemas.microsoft.com/office/powerpoint/2010/main" val="1323297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er + Content">
    <p:spTree>
      <p:nvGrpSpPr>
        <p:cNvPr id="1" name=""/>
        <p:cNvGrpSpPr/>
        <p:nvPr/>
      </p:nvGrpSpPr>
      <p:grpSpPr>
        <a:xfrm>
          <a:off x="0" y="0"/>
          <a:ext cx="0" cy="0"/>
          <a:chOff x="0" y="0"/>
          <a:chExt cx="0" cy="0"/>
        </a:xfrm>
      </p:grpSpPr>
      <p:sp>
        <p:nvSpPr>
          <p:cNvPr id="6" name="Text Placeholder 9"/>
          <p:cNvSpPr>
            <a:spLocks noGrp="1"/>
          </p:cNvSpPr>
          <p:nvPr>
            <p:ph type="body" sz="quarter" idx="11" hasCustomPrompt="1"/>
          </p:nvPr>
        </p:nvSpPr>
        <p:spPr>
          <a:xfrm>
            <a:off x="879073" y="1736726"/>
            <a:ext cx="10928280" cy="4015497"/>
          </a:xfrm>
          <a:prstGeom prst="rect">
            <a:avLst/>
          </a:prstGeom>
        </p:spPr>
        <p:txBody>
          <a:bodyPr/>
          <a:lstStyle>
            <a:lvl1pPr marL="457189" indent="-457189">
              <a:buFont typeface="Lucida Grande"/>
              <a:buChar char="&gt;"/>
              <a:defRPr sz="3200" b="0" i="0" baseline="0">
                <a:solidFill>
                  <a:srgbClr val="005F83"/>
                </a:solidFill>
                <a:latin typeface="Orgon Slab Light"/>
                <a:cs typeface="Orgon Slab Light"/>
              </a:defRPr>
            </a:lvl1pPr>
            <a:lvl2pPr>
              <a:defRPr sz="2667" b="0" i="0" baseline="0">
                <a:solidFill>
                  <a:srgbClr val="005F83"/>
                </a:solidFill>
                <a:latin typeface="Orgon Slab Light"/>
                <a:cs typeface="Orgon Slab Light"/>
              </a:defRPr>
            </a:lvl2pPr>
            <a:lvl3pPr marL="1523962" indent="-304792">
              <a:buSzPct val="100000"/>
              <a:buFont typeface="Lucida Grande"/>
              <a:buChar char="&gt;"/>
              <a:defRPr sz="2400" b="0" i="0" baseline="0">
                <a:solidFill>
                  <a:srgbClr val="005F83"/>
                </a:solidFill>
                <a:latin typeface="Orgon Slab Light"/>
                <a:cs typeface="Orgon Slab Light"/>
              </a:defRPr>
            </a:lvl3pPr>
            <a:lvl4pPr>
              <a:defRPr sz="2133" b="0" i="0" baseline="0">
                <a:solidFill>
                  <a:srgbClr val="005F83"/>
                </a:solidFill>
                <a:latin typeface="Orgon Slab Light"/>
                <a:cs typeface="Orgon Slab Light"/>
              </a:defRPr>
            </a:lvl4pPr>
            <a:lvl5pPr marL="2743131" indent="-304792">
              <a:buFont typeface="Lucida Grande"/>
              <a:buChar char="&gt;"/>
              <a:defRPr sz="1867" b="0" i="0" baseline="0">
                <a:solidFill>
                  <a:srgbClr val="005F83"/>
                </a:solidFill>
                <a:latin typeface="Orgon Slab Light"/>
                <a:cs typeface="Orgon Slab Light"/>
              </a:defRPr>
            </a:lvl5pPr>
          </a:lstStyle>
          <a:p>
            <a:pPr lvl="0"/>
            <a:r>
              <a:rPr lang="en-US" dirty="0"/>
              <a:t>Bulleted content here (</a:t>
            </a:r>
            <a:r>
              <a:rPr lang="en-US" dirty="0" err="1"/>
              <a:t>Orgon</a:t>
            </a:r>
            <a:r>
              <a:rPr lang="en-US" dirty="0"/>
              <a:t> Sans Light, 24 pt.)</a:t>
            </a:r>
          </a:p>
          <a:p>
            <a:pPr lvl="1"/>
            <a:r>
              <a:rPr lang="en-US" dirty="0"/>
              <a:t>Second level (</a:t>
            </a:r>
            <a:r>
              <a:rPr lang="en-US" dirty="0" err="1"/>
              <a:t>Orgon</a:t>
            </a:r>
            <a:r>
              <a:rPr lang="en-US" dirty="0"/>
              <a:t> Sans Light, 20)</a:t>
            </a:r>
          </a:p>
          <a:p>
            <a:pPr lvl="2"/>
            <a:r>
              <a:rPr lang="en-US" dirty="0"/>
              <a:t>Third level (</a:t>
            </a:r>
            <a:r>
              <a:rPr lang="en-US" dirty="0" err="1"/>
              <a:t>Orgon</a:t>
            </a:r>
            <a:r>
              <a:rPr lang="en-US" dirty="0"/>
              <a:t> Sans Light, 18)</a:t>
            </a:r>
          </a:p>
          <a:p>
            <a:pPr lvl="3"/>
            <a:r>
              <a:rPr lang="en-US" dirty="0"/>
              <a:t>Fourth level (</a:t>
            </a:r>
            <a:r>
              <a:rPr lang="en-US" dirty="0" err="1"/>
              <a:t>Orgon</a:t>
            </a:r>
            <a:r>
              <a:rPr lang="en-US" dirty="0"/>
              <a:t> Sans Light, 16)</a:t>
            </a:r>
          </a:p>
          <a:p>
            <a:pPr lvl="4"/>
            <a:r>
              <a:rPr lang="en-US" dirty="0"/>
              <a:t>Fifth level (</a:t>
            </a:r>
            <a:r>
              <a:rPr lang="en-US" dirty="0" err="1"/>
              <a:t>Orgon</a:t>
            </a:r>
            <a:r>
              <a:rPr lang="en-US" dirty="0"/>
              <a:t> Sans Light, 14)</a:t>
            </a:r>
          </a:p>
        </p:txBody>
      </p:sp>
      <p:sp>
        <p:nvSpPr>
          <p:cNvPr id="13" name="Rectangle 12"/>
          <p:cNvSpPr/>
          <p:nvPr userDrawn="1"/>
        </p:nvSpPr>
        <p:spPr>
          <a:xfrm>
            <a:off x="-3" y="-12829"/>
            <a:ext cx="12192004" cy="1113496"/>
          </a:xfrm>
          <a:prstGeom prst="rect">
            <a:avLst/>
          </a:prstGeom>
          <a:solidFill>
            <a:srgbClr val="5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509E2F"/>
              </a:solidFill>
            </a:endParaRPr>
          </a:p>
        </p:txBody>
      </p:sp>
      <p:pic>
        <p:nvPicPr>
          <p:cNvPr id="14" name="Picture 13" descr="DotPattern_309.eps"/>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5236"/>
            <a:ext cx="3632200" cy="828040"/>
          </a:xfrm>
          <a:prstGeom prst="rect">
            <a:avLst/>
          </a:prstGeom>
        </p:spPr>
      </p:pic>
      <p:sp>
        <p:nvSpPr>
          <p:cNvPr id="16" name="Text Placeholder 5"/>
          <p:cNvSpPr>
            <a:spLocks noGrp="1"/>
          </p:cNvSpPr>
          <p:nvPr>
            <p:ph type="body" sz="quarter" idx="10" hasCustomPrompt="1"/>
          </p:nvPr>
        </p:nvSpPr>
        <p:spPr>
          <a:xfrm>
            <a:off x="658610" y="467080"/>
            <a:ext cx="11160857" cy="460021"/>
          </a:xfrm>
          <a:prstGeom prst="rect">
            <a:avLst/>
          </a:prstGeom>
          <a:ln>
            <a:noFill/>
          </a:ln>
        </p:spPr>
        <p:txBody>
          <a:bodyPr>
            <a:normAutofit/>
          </a:bodyPr>
          <a:lstStyle>
            <a:lvl1pPr marL="0" indent="0">
              <a:lnSpc>
                <a:spcPct val="100000"/>
              </a:lnSpc>
              <a:buNone/>
              <a:defRPr sz="4000" b="0" i="0" baseline="0">
                <a:solidFill>
                  <a:schemeClr val="bg2"/>
                </a:solidFill>
                <a:latin typeface="Orgon Slab Medium"/>
                <a:cs typeface="Orgon Slab Medium"/>
              </a:defRPr>
            </a:lvl1pPr>
            <a:lvl2pPr marL="609585" indent="0">
              <a:buNone/>
              <a:defRPr b="0" i="0">
                <a:solidFill>
                  <a:srgbClr val="E8D3A2"/>
                </a:solidFill>
                <a:latin typeface="Encode Sans Normal Black"/>
                <a:cs typeface="Encode Sans Normal Black"/>
              </a:defRPr>
            </a:lvl2pPr>
            <a:lvl3pPr marL="1219170" indent="0">
              <a:buNone/>
              <a:defRPr b="0" i="0">
                <a:solidFill>
                  <a:srgbClr val="E8D3A2"/>
                </a:solidFill>
                <a:latin typeface="Encode Sans Normal Black"/>
                <a:cs typeface="Encode Sans Normal Black"/>
              </a:defRPr>
            </a:lvl3pPr>
            <a:lvl4pPr marL="1828754" indent="0">
              <a:buNone/>
              <a:defRPr b="0" i="0">
                <a:solidFill>
                  <a:srgbClr val="E8D3A2"/>
                </a:solidFill>
                <a:latin typeface="Encode Sans Normal Black"/>
                <a:cs typeface="Encode Sans Normal Black"/>
              </a:defRPr>
            </a:lvl4pPr>
            <a:lvl5pPr marL="2438339" indent="0">
              <a:buNone/>
              <a:defRPr b="0" i="0">
                <a:solidFill>
                  <a:srgbClr val="E8D3A2"/>
                </a:solidFill>
                <a:latin typeface="Encode Sans Normal Black"/>
                <a:cs typeface="Encode Sans Normal Black"/>
              </a:defRPr>
            </a:lvl5pPr>
          </a:lstStyle>
          <a:p>
            <a:pPr lvl="0"/>
            <a:r>
              <a:rPr lang="en-US" dirty="0"/>
              <a:t>HEADER HERE (ORGON SLAB MEDIUM 30 PT)</a:t>
            </a:r>
          </a:p>
        </p:txBody>
      </p:sp>
    </p:spTree>
    <p:extLst>
      <p:ext uri="{BB962C8B-B14F-4D97-AF65-F5344CB8AC3E}">
        <p14:creationId xmlns:p14="http://schemas.microsoft.com/office/powerpoint/2010/main" val="500012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Content">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11645815" y="-28146"/>
            <a:ext cx="674365" cy="503963"/>
          </a:xfrm>
          <a:prstGeom prst="rect">
            <a:avLst/>
          </a:prstGeom>
        </p:spPr>
        <p:txBody>
          <a:bodyPr vert="horz" lIns="91440" tIns="45720" rIns="91440" bIns="45720" rtlCol="0" anchor="ctr"/>
          <a:lstStyle>
            <a:lvl1pPr algn="l">
              <a:defRPr sz="1000" b="1" i="0">
                <a:solidFill>
                  <a:schemeClr val="bg1"/>
                </a:solidFill>
                <a:latin typeface="HelveticaNeue MediumCond"/>
                <a:cs typeface="HelveticaNeue MediumCond"/>
              </a:defRPr>
            </a:lvl1pPr>
          </a:lstStyle>
          <a:p>
            <a:fld id="{2066355A-084C-D24E-9AD2-7E4FC41EA627}" type="slidenum">
              <a:rPr lang="en-US" smtClean="0">
                <a:solidFill>
                  <a:prstClr val="white"/>
                </a:solidFill>
              </a:rPr>
              <a:pPr/>
              <a:t>‹#›</a:t>
            </a:fld>
            <a:endParaRPr lang="en-US" dirty="0">
              <a:solidFill>
                <a:prstClr val="white"/>
              </a:solidFill>
            </a:endParaRPr>
          </a:p>
        </p:txBody>
      </p:sp>
      <p:sp>
        <p:nvSpPr>
          <p:cNvPr id="6" name="Title 1"/>
          <p:cNvSpPr>
            <a:spLocks noGrp="1"/>
          </p:cNvSpPr>
          <p:nvPr>
            <p:ph type="title" hasCustomPrompt="1"/>
          </p:nvPr>
        </p:nvSpPr>
        <p:spPr>
          <a:xfrm>
            <a:off x="686105" y="457201"/>
            <a:ext cx="10669812" cy="373531"/>
          </a:xfrm>
        </p:spPr>
        <p:txBody>
          <a:bodyPr/>
          <a:lstStyle/>
          <a:p>
            <a:r>
              <a:rPr lang="en-US" dirty="0"/>
              <a:t>CLICK TO EDIT MASTER TITLE STYLE</a:t>
            </a:r>
          </a:p>
        </p:txBody>
      </p:sp>
      <p:sp>
        <p:nvSpPr>
          <p:cNvPr id="3" name="Text Placeholder 2"/>
          <p:cNvSpPr>
            <a:spLocks noGrp="1"/>
          </p:cNvSpPr>
          <p:nvPr>
            <p:ph type="body" sz="quarter" idx="10"/>
          </p:nvPr>
        </p:nvSpPr>
        <p:spPr>
          <a:xfrm>
            <a:off x="685800" y="836994"/>
            <a:ext cx="10670117" cy="5411406"/>
          </a:xfrm>
          <a:prstGeom prst="rect">
            <a:avLst/>
          </a:prstGeom>
        </p:spPr>
        <p:txBody>
          <a:bodyPr>
            <a:normAutofit/>
          </a:bodyPr>
          <a:lstStyle>
            <a:lvl1pPr marL="182880" indent="-182880">
              <a:lnSpc>
                <a:spcPct val="90000"/>
              </a:lnSpc>
              <a:defRPr/>
            </a:lvl1pPr>
            <a:lvl2pPr marL="365760" indent="-182880">
              <a:lnSpc>
                <a:spcPct val="90000"/>
              </a:lnSpc>
              <a:defRPr/>
            </a:lvl2pPr>
            <a:lvl3pPr marL="548640" indent="-182880">
              <a:lnSpc>
                <a:spcPct val="90000"/>
              </a:lnSpc>
              <a:defRPr/>
            </a:lvl3pPr>
            <a:lvl4pPr marL="731520" indent="-182880">
              <a:lnSpc>
                <a:spcPct val="90000"/>
              </a:lnSpc>
              <a:buClr>
                <a:schemeClr val="tx1">
                  <a:lumMod val="50000"/>
                  <a:lumOff val="50000"/>
                </a:schemeClr>
              </a:buClr>
              <a:buFontTx/>
              <a:buChar char="-"/>
              <a:defRPr sz="1400"/>
            </a:lvl4pPr>
            <a:lvl5pPr marL="914400" indent="-182880">
              <a:lnSpc>
                <a:spcPct val="90000"/>
              </a:lnSpc>
              <a:buClr>
                <a:schemeClr val="tx1">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7599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Content with Takeaway">
    <p:spTree>
      <p:nvGrpSpPr>
        <p:cNvPr id="1" name=""/>
        <p:cNvGrpSpPr/>
        <p:nvPr/>
      </p:nvGrpSpPr>
      <p:grpSpPr>
        <a:xfrm>
          <a:off x="0" y="0"/>
          <a:ext cx="0" cy="0"/>
          <a:chOff x="0" y="0"/>
          <a:chExt cx="0" cy="0"/>
        </a:xfrm>
      </p:grpSpPr>
      <p:sp>
        <p:nvSpPr>
          <p:cNvPr id="6" name="Rectangle 5"/>
          <p:cNvSpPr/>
          <p:nvPr userDrawn="1"/>
        </p:nvSpPr>
        <p:spPr>
          <a:xfrm>
            <a:off x="214490" y="6364852"/>
            <a:ext cx="11977511" cy="493148"/>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3" name="Slide Number Placeholder 2"/>
          <p:cNvSpPr>
            <a:spLocks noGrp="1"/>
          </p:cNvSpPr>
          <p:nvPr>
            <p:ph type="sldNum" sz="quarter" idx="10"/>
          </p:nvPr>
        </p:nvSpPr>
        <p:spPr/>
        <p:txBody>
          <a:bodyPr/>
          <a:lstStyle/>
          <a:p>
            <a:fld id="{2066355A-084C-D24E-9AD2-7E4FC41EA627}" type="slidenum">
              <a:rPr lang="en-US" smtClean="0">
                <a:solidFill>
                  <a:prstClr val="white"/>
                </a:solidFill>
              </a:rPr>
              <a:pPr/>
              <a:t>‹#›</a:t>
            </a:fld>
            <a:endParaRPr lang="en-US" dirty="0">
              <a:solidFill>
                <a:prstClr val="white"/>
              </a:solidFill>
            </a:endParaRPr>
          </a:p>
        </p:txBody>
      </p:sp>
      <p:sp>
        <p:nvSpPr>
          <p:cNvPr id="4" name="Round Single Corner Rectangle 3"/>
          <p:cNvSpPr/>
          <p:nvPr userDrawn="1"/>
        </p:nvSpPr>
        <p:spPr>
          <a:xfrm>
            <a:off x="1" y="6364853"/>
            <a:ext cx="11585559" cy="504577"/>
          </a:xfrm>
          <a:prstGeom prst="round1Rect">
            <a:avLst>
              <a:gd name="adj" fmla="val 50000"/>
            </a:avLst>
          </a:prstGeom>
          <a:solidFill>
            <a:srgbClr val="E71D1D"/>
          </a:solidFill>
          <a:ln w="190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0" name="Text Placeholder 9"/>
          <p:cNvSpPr>
            <a:spLocks noGrp="1"/>
          </p:cNvSpPr>
          <p:nvPr>
            <p:ph type="body" sz="quarter" idx="15" hasCustomPrompt="1"/>
          </p:nvPr>
        </p:nvSpPr>
        <p:spPr>
          <a:xfrm>
            <a:off x="315384" y="6416694"/>
            <a:ext cx="11063816" cy="457200"/>
          </a:xfrm>
          <a:prstGeom prst="rect">
            <a:avLst/>
          </a:prstGeom>
        </p:spPr>
        <p:txBody>
          <a:bodyPr/>
          <a:lstStyle>
            <a:lvl1pPr marL="0" indent="0" algn="r">
              <a:buNone/>
              <a:defRPr b="1">
                <a:solidFill>
                  <a:schemeClr val="bg1"/>
                </a:solidFill>
              </a:defRPr>
            </a:lvl1pPr>
          </a:lstStyle>
          <a:p>
            <a:pPr lvl="0"/>
            <a:r>
              <a:rPr lang="en-US" dirty="0"/>
              <a:t>Click to edit takeaway text</a:t>
            </a:r>
          </a:p>
        </p:txBody>
      </p:sp>
      <p:sp>
        <p:nvSpPr>
          <p:cNvPr id="16" name="Title 1"/>
          <p:cNvSpPr>
            <a:spLocks noGrp="1"/>
          </p:cNvSpPr>
          <p:nvPr>
            <p:ph type="title" hasCustomPrompt="1"/>
          </p:nvPr>
        </p:nvSpPr>
        <p:spPr>
          <a:xfrm>
            <a:off x="686104" y="457201"/>
            <a:ext cx="10830680" cy="373531"/>
          </a:xfrm>
        </p:spPr>
        <p:txBody>
          <a:bodyPr/>
          <a:lstStyle/>
          <a:p>
            <a:r>
              <a:rPr lang="en-US" dirty="0"/>
              <a:t>CLICK TO EDIT MASTER TITLE STYLE</a:t>
            </a:r>
          </a:p>
        </p:txBody>
      </p:sp>
      <p:sp>
        <p:nvSpPr>
          <p:cNvPr id="22" name="Text Placeholder 2"/>
          <p:cNvSpPr>
            <a:spLocks noGrp="1"/>
          </p:cNvSpPr>
          <p:nvPr>
            <p:ph type="body" sz="quarter" idx="16"/>
          </p:nvPr>
        </p:nvSpPr>
        <p:spPr>
          <a:xfrm>
            <a:off x="685800" y="836994"/>
            <a:ext cx="10670117" cy="5411406"/>
          </a:xfrm>
          <a:prstGeom prst="rect">
            <a:avLst/>
          </a:prstGeom>
        </p:spPr>
        <p:txBody>
          <a:bodyPr>
            <a:normAutofit/>
          </a:bodyPr>
          <a:lstStyle>
            <a:lvl1pPr marL="182880" indent="-182880">
              <a:lnSpc>
                <a:spcPct val="90000"/>
              </a:lnSpc>
              <a:defRPr/>
            </a:lvl1pPr>
            <a:lvl2pPr marL="365760" indent="-182880">
              <a:lnSpc>
                <a:spcPct val="90000"/>
              </a:lnSpc>
              <a:defRPr/>
            </a:lvl2pPr>
            <a:lvl3pPr marL="548640" indent="-182880">
              <a:lnSpc>
                <a:spcPct val="90000"/>
              </a:lnSpc>
              <a:defRPr/>
            </a:lvl3pPr>
            <a:lvl4pPr marL="731520" indent="-182880">
              <a:lnSpc>
                <a:spcPct val="90000"/>
              </a:lnSpc>
              <a:buClr>
                <a:schemeClr val="tx1">
                  <a:lumMod val="50000"/>
                  <a:lumOff val="50000"/>
                </a:schemeClr>
              </a:buClr>
              <a:buFontTx/>
              <a:buChar char="-"/>
              <a:defRPr sz="1400"/>
            </a:lvl4pPr>
            <a:lvl5pPr marL="914400" indent="-182880">
              <a:lnSpc>
                <a:spcPct val="90000"/>
              </a:lnSpc>
              <a:buClr>
                <a:schemeClr val="tx1">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673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645815" y="-28146"/>
            <a:ext cx="674365" cy="503963"/>
          </a:xfrm>
          <a:prstGeom prst="rect">
            <a:avLst/>
          </a:prstGeom>
        </p:spPr>
        <p:txBody>
          <a:bodyPr vert="horz" lIns="91440" tIns="45720" rIns="91440" bIns="45720" rtlCol="0" anchor="ctr"/>
          <a:lstStyle>
            <a:lvl1pPr algn="l">
              <a:defRPr sz="1000" b="1" i="0">
                <a:solidFill>
                  <a:schemeClr val="bg1"/>
                </a:solidFill>
                <a:latin typeface="HelveticaNeue MediumCond"/>
                <a:cs typeface="HelveticaNeue MediumCond"/>
              </a:defRPr>
            </a:lvl1pPr>
          </a:lstStyle>
          <a:p>
            <a:fld id="{2066355A-084C-D24E-9AD2-7E4FC41EA627}" type="slidenum">
              <a:rPr lang="en-US" smtClean="0">
                <a:solidFill>
                  <a:prstClr val="white"/>
                </a:solidFill>
              </a:rPr>
              <a:pPr/>
              <a:t>‹#›</a:t>
            </a:fld>
            <a:endParaRPr lang="en-US" dirty="0">
              <a:solidFill>
                <a:prstClr val="white"/>
              </a:solidFill>
            </a:endParaRPr>
          </a:p>
        </p:txBody>
      </p:sp>
      <p:sp>
        <p:nvSpPr>
          <p:cNvPr id="13" name="Title 1"/>
          <p:cNvSpPr>
            <a:spLocks noGrp="1"/>
          </p:cNvSpPr>
          <p:nvPr>
            <p:ph type="title" hasCustomPrompt="1"/>
          </p:nvPr>
        </p:nvSpPr>
        <p:spPr>
          <a:xfrm>
            <a:off x="686104" y="457201"/>
            <a:ext cx="10839859" cy="373531"/>
          </a:xfrm>
        </p:spPr>
        <p:txBody>
          <a:bodyPr/>
          <a:lstStyle/>
          <a:p>
            <a:r>
              <a:rPr lang="en-US" dirty="0"/>
              <a:t>CLICK TO EDIT MASTER TITLE STYLE</a:t>
            </a:r>
          </a:p>
        </p:txBody>
      </p:sp>
      <p:sp>
        <p:nvSpPr>
          <p:cNvPr id="17" name="Text Placeholder 2"/>
          <p:cNvSpPr>
            <a:spLocks noGrp="1"/>
          </p:cNvSpPr>
          <p:nvPr>
            <p:ph type="body" sz="quarter" idx="12"/>
          </p:nvPr>
        </p:nvSpPr>
        <p:spPr>
          <a:xfrm>
            <a:off x="685800" y="836994"/>
            <a:ext cx="5308547" cy="5411406"/>
          </a:xfrm>
          <a:prstGeom prst="rect">
            <a:avLst/>
          </a:prstGeom>
        </p:spPr>
        <p:txBody>
          <a:bodyPr>
            <a:normAutofit/>
          </a:bodyPr>
          <a:lstStyle>
            <a:lvl1pPr marL="182880" indent="-182880">
              <a:lnSpc>
                <a:spcPct val="90000"/>
              </a:lnSpc>
              <a:defRPr/>
            </a:lvl1pPr>
            <a:lvl2pPr marL="365760" indent="-182880">
              <a:lnSpc>
                <a:spcPct val="90000"/>
              </a:lnSpc>
              <a:defRPr/>
            </a:lvl2pPr>
            <a:lvl3pPr marL="548640" indent="-182880">
              <a:lnSpc>
                <a:spcPct val="90000"/>
              </a:lnSpc>
              <a:defRPr/>
            </a:lvl3pPr>
            <a:lvl4pPr marL="731520" indent="-182880">
              <a:lnSpc>
                <a:spcPct val="90000"/>
              </a:lnSpc>
              <a:buClr>
                <a:schemeClr val="tx1">
                  <a:lumMod val="50000"/>
                  <a:lumOff val="50000"/>
                </a:schemeClr>
              </a:buClr>
              <a:buFontTx/>
              <a:buChar char="-"/>
              <a:defRPr sz="1400"/>
            </a:lvl4pPr>
            <a:lvl5pPr marL="914400" indent="-182880">
              <a:lnSpc>
                <a:spcPct val="90000"/>
              </a:lnSpc>
              <a:buClr>
                <a:schemeClr val="tx1">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2"/>
          <p:cNvSpPr>
            <a:spLocks noGrp="1"/>
          </p:cNvSpPr>
          <p:nvPr>
            <p:ph type="body" sz="quarter" idx="13"/>
          </p:nvPr>
        </p:nvSpPr>
        <p:spPr>
          <a:xfrm>
            <a:off x="6217720" y="836994"/>
            <a:ext cx="5308547" cy="5411406"/>
          </a:xfrm>
          <a:prstGeom prst="rect">
            <a:avLst/>
          </a:prstGeom>
        </p:spPr>
        <p:txBody>
          <a:bodyPr>
            <a:normAutofit/>
          </a:bodyPr>
          <a:lstStyle>
            <a:lvl1pPr marL="182880" indent="-182880">
              <a:lnSpc>
                <a:spcPct val="90000"/>
              </a:lnSpc>
              <a:defRPr/>
            </a:lvl1pPr>
            <a:lvl2pPr marL="365760" indent="-182880">
              <a:lnSpc>
                <a:spcPct val="90000"/>
              </a:lnSpc>
              <a:defRPr/>
            </a:lvl2pPr>
            <a:lvl3pPr marL="548640" indent="-182880">
              <a:lnSpc>
                <a:spcPct val="90000"/>
              </a:lnSpc>
              <a:defRPr/>
            </a:lvl3pPr>
            <a:lvl4pPr marL="731520" indent="-182880">
              <a:lnSpc>
                <a:spcPct val="90000"/>
              </a:lnSpc>
              <a:buClr>
                <a:schemeClr val="tx1">
                  <a:lumMod val="50000"/>
                  <a:lumOff val="50000"/>
                </a:schemeClr>
              </a:buClr>
              <a:buFontTx/>
              <a:buChar char="-"/>
              <a:defRPr sz="1400"/>
            </a:lvl4pPr>
            <a:lvl5pPr marL="914400" indent="-182880">
              <a:lnSpc>
                <a:spcPct val="90000"/>
              </a:lnSpc>
              <a:buClr>
                <a:schemeClr val="tx1">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532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1" name="Text Placeholder 2"/>
          <p:cNvSpPr>
            <a:spLocks noGrp="1"/>
          </p:cNvSpPr>
          <p:nvPr>
            <p:ph type="body" sz="quarter" idx="12"/>
          </p:nvPr>
        </p:nvSpPr>
        <p:spPr>
          <a:xfrm>
            <a:off x="592666" y="905256"/>
            <a:ext cx="5429251" cy="256032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p:cNvSpPr>
            <a:spLocks noGrp="1"/>
          </p:cNvSpPr>
          <p:nvPr>
            <p:ph type="sldNum" sz="quarter" idx="10"/>
          </p:nvPr>
        </p:nvSpPr>
        <p:spPr/>
        <p:txBody>
          <a:bodyPr/>
          <a:lstStyle/>
          <a:p>
            <a:fld id="{2066355A-084C-D24E-9AD2-7E4FC41EA627}" type="slidenum">
              <a:rPr lang="en-US" smtClean="0">
                <a:solidFill>
                  <a:prstClr val="white"/>
                </a:solidFill>
              </a:rPr>
              <a:pPr/>
              <a:t>‹#›</a:t>
            </a:fld>
            <a:endParaRPr lang="en-US" dirty="0">
              <a:solidFill>
                <a:prstClr val="white"/>
              </a:solidFill>
            </a:endParaRPr>
          </a:p>
        </p:txBody>
      </p:sp>
      <p:cxnSp>
        <p:nvCxnSpPr>
          <p:cNvPr id="7" name="Straight Connector 6"/>
          <p:cNvCxnSpPr/>
          <p:nvPr userDrawn="1"/>
        </p:nvCxnSpPr>
        <p:spPr bwMode="auto">
          <a:xfrm flipH="1">
            <a:off x="592160" y="3571354"/>
            <a:ext cx="11091841" cy="0"/>
          </a:xfrm>
          <a:prstGeom prst="line">
            <a:avLst/>
          </a:prstGeom>
          <a:noFill/>
          <a:ln w="19050" cap="flat" cmpd="sng" algn="ctr">
            <a:solidFill>
              <a:schemeClr val="bg2">
                <a:lumMod val="65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itle 1"/>
          <p:cNvSpPr>
            <a:spLocks noGrp="1"/>
          </p:cNvSpPr>
          <p:nvPr>
            <p:ph type="title" hasCustomPrompt="1"/>
          </p:nvPr>
        </p:nvSpPr>
        <p:spPr>
          <a:xfrm>
            <a:off x="576000" y="457201"/>
            <a:ext cx="11128904" cy="373531"/>
          </a:xfrm>
        </p:spPr>
        <p:txBody>
          <a:bodyPr/>
          <a:lstStyle/>
          <a:p>
            <a:r>
              <a:rPr lang="en-US" dirty="0"/>
              <a:t>CLICK TO EDIT MASTER TITLE STYLE</a:t>
            </a:r>
          </a:p>
        </p:txBody>
      </p:sp>
      <p:cxnSp>
        <p:nvCxnSpPr>
          <p:cNvPr id="25" name="Straight Connector 24"/>
          <p:cNvCxnSpPr/>
          <p:nvPr userDrawn="1"/>
        </p:nvCxnSpPr>
        <p:spPr bwMode="auto">
          <a:xfrm>
            <a:off x="6140452" y="905256"/>
            <a:ext cx="0" cy="5190744"/>
          </a:xfrm>
          <a:prstGeom prst="line">
            <a:avLst/>
          </a:prstGeom>
          <a:noFill/>
          <a:ln w="19050" cap="flat" cmpd="sng" algn="ctr">
            <a:solidFill>
              <a:schemeClr val="bg2">
                <a:lumMod val="65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 Placeholder 2"/>
          <p:cNvSpPr>
            <a:spLocks noGrp="1"/>
          </p:cNvSpPr>
          <p:nvPr>
            <p:ph type="body" sz="quarter" idx="21"/>
          </p:nvPr>
        </p:nvSpPr>
        <p:spPr>
          <a:xfrm>
            <a:off x="592160" y="3661264"/>
            <a:ext cx="5402241" cy="2434736"/>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p:cNvSpPr>
            <a:spLocks noGrp="1"/>
          </p:cNvSpPr>
          <p:nvPr>
            <p:ph type="body" sz="quarter" idx="22"/>
          </p:nvPr>
        </p:nvSpPr>
        <p:spPr>
          <a:xfrm>
            <a:off x="6277325" y="3661266"/>
            <a:ext cx="5429251" cy="2434735"/>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p:cNvSpPr>
            <a:spLocks noGrp="1"/>
          </p:cNvSpPr>
          <p:nvPr>
            <p:ph type="body" sz="quarter" idx="23"/>
          </p:nvPr>
        </p:nvSpPr>
        <p:spPr>
          <a:xfrm>
            <a:off x="6299200" y="905256"/>
            <a:ext cx="5429251" cy="256032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40711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2066355A-084C-D24E-9AD2-7E4FC41EA627}" type="slidenum">
              <a:rPr lang="en-US" smtClean="0">
                <a:solidFill>
                  <a:prstClr val="white"/>
                </a:solidFill>
              </a:rPr>
              <a:pPr/>
              <a:t>‹#›</a:t>
            </a:fld>
            <a:endParaRPr lang="en-US" dirty="0">
              <a:solidFill>
                <a:prstClr val="white"/>
              </a:solidFill>
            </a:endParaRPr>
          </a:p>
        </p:txBody>
      </p:sp>
      <p:sp>
        <p:nvSpPr>
          <p:cNvPr id="4" name="Rectangle 3"/>
          <p:cNvSpPr/>
          <p:nvPr userDrawn="1"/>
        </p:nvSpPr>
        <p:spPr>
          <a:xfrm>
            <a:off x="0" y="6324600"/>
            <a:ext cx="12192000" cy="533400"/>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5" name="Round Single Corner Rectangle 4"/>
          <p:cNvSpPr/>
          <p:nvPr userDrawn="1"/>
        </p:nvSpPr>
        <p:spPr>
          <a:xfrm>
            <a:off x="1" y="6364853"/>
            <a:ext cx="11585559" cy="504577"/>
          </a:xfrm>
          <a:prstGeom prst="round1Rect">
            <a:avLst>
              <a:gd name="adj" fmla="val 50000"/>
            </a:avLst>
          </a:prstGeom>
          <a:solidFill>
            <a:srgbClr val="E71D1D"/>
          </a:solidFill>
          <a:ln w="190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6" name="Text Placeholder 9"/>
          <p:cNvSpPr>
            <a:spLocks noGrp="1"/>
          </p:cNvSpPr>
          <p:nvPr>
            <p:ph type="body" sz="quarter" idx="15" hasCustomPrompt="1"/>
          </p:nvPr>
        </p:nvSpPr>
        <p:spPr>
          <a:xfrm>
            <a:off x="315384" y="6416694"/>
            <a:ext cx="11063816" cy="457200"/>
          </a:xfrm>
          <a:prstGeom prst="rect">
            <a:avLst/>
          </a:prstGeom>
        </p:spPr>
        <p:txBody>
          <a:bodyPr/>
          <a:lstStyle>
            <a:lvl1pPr marL="0" indent="0" algn="r">
              <a:buNone/>
              <a:defRPr b="1">
                <a:solidFill>
                  <a:schemeClr val="bg1"/>
                </a:solidFill>
              </a:defRPr>
            </a:lvl1pPr>
          </a:lstStyle>
          <a:p>
            <a:pPr lvl="0"/>
            <a:r>
              <a:rPr lang="en-US" dirty="0"/>
              <a:t>Click to edit takeaway text</a:t>
            </a:r>
          </a:p>
        </p:txBody>
      </p:sp>
      <p:cxnSp>
        <p:nvCxnSpPr>
          <p:cNvPr id="11" name="Straight Connector 10"/>
          <p:cNvCxnSpPr/>
          <p:nvPr userDrawn="1"/>
        </p:nvCxnSpPr>
        <p:spPr bwMode="auto">
          <a:xfrm>
            <a:off x="6118987" y="906932"/>
            <a:ext cx="21819" cy="5265269"/>
          </a:xfrm>
          <a:prstGeom prst="line">
            <a:avLst/>
          </a:prstGeom>
          <a:noFill/>
          <a:ln w="19050" cap="flat" cmpd="sng" algn="ctr">
            <a:solidFill>
              <a:schemeClr val="bg2">
                <a:lumMod val="65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p:cNvCxnSpPr/>
          <p:nvPr userDrawn="1"/>
        </p:nvCxnSpPr>
        <p:spPr bwMode="auto">
          <a:xfrm flipH="1">
            <a:off x="592160" y="3518720"/>
            <a:ext cx="11112745" cy="0"/>
          </a:xfrm>
          <a:prstGeom prst="line">
            <a:avLst/>
          </a:prstGeom>
          <a:noFill/>
          <a:ln w="19050" cap="flat" cmpd="sng" algn="ctr">
            <a:solidFill>
              <a:schemeClr val="bg2">
                <a:lumMod val="65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itle 1"/>
          <p:cNvSpPr>
            <a:spLocks noGrp="1"/>
          </p:cNvSpPr>
          <p:nvPr>
            <p:ph type="title" hasCustomPrompt="1"/>
          </p:nvPr>
        </p:nvSpPr>
        <p:spPr>
          <a:xfrm>
            <a:off x="592159" y="457201"/>
            <a:ext cx="11053655" cy="373531"/>
          </a:xfrm>
        </p:spPr>
        <p:txBody>
          <a:bodyPr/>
          <a:lstStyle/>
          <a:p>
            <a:r>
              <a:rPr lang="en-US" dirty="0"/>
              <a:t>CLICK TO EDIT MASTER TITLE STYLE</a:t>
            </a:r>
          </a:p>
        </p:txBody>
      </p:sp>
      <p:sp>
        <p:nvSpPr>
          <p:cNvPr id="17" name="Text Placeholder 2"/>
          <p:cNvSpPr>
            <a:spLocks noGrp="1"/>
          </p:cNvSpPr>
          <p:nvPr>
            <p:ph type="body" sz="quarter" idx="22"/>
          </p:nvPr>
        </p:nvSpPr>
        <p:spPr>
          <a:xfrm>
            <a:off x="603448" y="905254"/>
            <a:ext cx="5429251" cy="251460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2"/>
          <p:cNvSpPr>
            <a:spLocks noGrp="1"/>
          </p:cNvSpPr>
          <p:nvPr>
            <p:ph type="body" sz="quarter" idx="23"/>
          </p:nvPr>
        </p:nvSpPr>
        <p:spPr>
          <a:xfrm>
            <a:off x="6275653" y="905256"/>
            <a:ext cx="5429251" cy="251460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sz="quarter" idx="24"/>
          </p:nvPr>
        </p:nvSpPr>
        <p:spPr>
          <a:xfrm>
            <a:off x="603448" y="3617192"/>
            <a:ext cx="5429251" cy="251460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2"/>
          <p:cNvSpPr>
            <a:spLocks noGrp="1"/>
          </p:cNvSpPr>
          <p:nvPr>
            <p:ph type="body" sz="quarter" idx="25"/>
          </p:nvPr>
        </p:nvSpPr>
        <p:spPr>
          <a:xfrm>
            <a:off x="6275653" y="3624072"/>
            <a:ext cx="5429251" cy="2514600"/>
          </a:xfrm>
          <a:prstGeom prst="rect">
            <a:avLst/>
          </a:prstGeom>
        </p:spPr>
        <p:txBody>
          <a:bodyPr>
            <a:normAutofit/>
          </a:bodyPr>
          <a:lstStyle>
            <a:lvl1pPr marL="182880" indent="-182880">
              <a:lnSpc>
                <a:spcPct val="90000"/>
              </a:lnSpc>
              <a:defRPr sz="1800"/>
            </a:lvl1pPr>
            <a:lvl2pPr marL="365760" indent="-182880">
              <a:lnSpc>
                <a:spcPct val="90000"/>
              </a:lnSpc>
              <a:defRPr sz="1600"/>
            </a:lvl2pPr>
            <a:lvl3pPr marL="548640" indent="-182880">
              <a:lnSpc>
                <a:spcPct val="90000"/>
              </a:lnSpc>
              <a:defRPr sz="1400"/>
            </a:lvl3pPr>
            <a:lvl4pPr marL="731520" indent="-182880">
              <a:lnSpc>
                <a:spcPct val="90000"/>
              </a:lnSpc>
              <a:buClr>
                <a:schemeClr val="tx1">
                  <a:lumMod val="50000"/>
                  <a:lumOff val="50000"/>
                </a:schemeClr>
              </a:buClr>
              <a:buFontTx/>
              <a:buChar char="-"/>
              <a:defRPr sz="1200"/>
            </a:lvl4pPr>
            <a:lvl5pPr marL="914400" indent="-182880">
              <a:lnSpc>
                <a:spcPct val="90000"/>
              </a:lnSpc>
              <a:buClr>
                <a:schemeClr val="tx1">
                  <a:lumMod val="50000"/>
                  <a:lumOff val="50000"/>
                </a:schemeClr>
              </a:buCl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625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2066355A-084C-D24E-9AD2-7E4FC41EA627}" type="slidenum">
              <a:rPr lang="en-US" smtClean="0">
                <a:solidFill>
                  <a:prstClr val="white"/>
                </a:solidFill>
              </a:rPr>
              <a:pPr/>
              <a:t>‹#›</a:t>
            </a:fld>
            <a:endParaRPr lang="en-US" dirty="0">
              <a:solidFill>
                <a:prstClr val="white"/>
              </a:solidFill>
            </a:endParaRPr>
          </a:p>
        </p:txBody>
      </p:sp>
      <p:sp>
        <p:nvSpPr>
          <p:cNvPr id="5" name="Title 1"/>
          <p:cNvSpPr>
            <a:spLocks noGrp="1"/>
          </p:cNvSpPr>
          <p:nvPr>
            <p:ph type="title" hasCustomPrompt="1"/>
          </p:nvPr>
        </p:nvSpPr>
        <p:spPr>
          <a:xfrm>
            <a:off x="686105" y="457201"/>
            <a:ext cx="10669812" cy="373531"/>
          </a:xfrm>
        </p:spPr>
        <p:txBody>
          <a:bodyPr/>
          <a:lstStyle/>
          <a:p>
            <a:r>
              <a:rPr lang="en-US" dirty="0"/>
              <a:t>CLICK TO EDIT MASTER TITLE STYLE</a:t>
            </a:r>
          </a:p>
        </p:txBody>
      </p:sp>
    </p:spTree>
    <p:extLst>
      <p:ext uri="{BB962C8B-B14F-4D97-AF65-F5344CB8AC3E}">
        <p14:creationId xmlns:p14="http://schemas.microsoft.com/office/powerpoint/2010/main" val="238949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5.png"/><Relationship Id="rId4" Type="http://schemas.openxmlformats.org/officeDocument/2006/relationships/slideLayout" Target="../slideLayouts/slideLayout17.xml"/><Relationship Id="rId9"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15F405-928C-4D5A-AA53-6923AFC2861D}" type="datetimeFigureOut">
              <a:rPr lang="en-US" smtClean="0"/>
              <a:t>4/27/2018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F37BD9-25C7-483B-B2BE-558565B1F321}" type="slidenum">
              <a:rPr lang="en-US" smtClean="0"/>
              <a:t>‹#›</a:t>
            </a:fld>
            <a:endParaRPr lang="en-US"/>
          </a:p>
        </p:txBody>
      </p:sp>
    </p:spTree>
    <p:extLst>
      <p:ext uri="{BB962C8B-B14F-4D97-AF65-F5344CB8AC3E}">
        <p14:creationId xmlns:p14="http://schemas.microsoft.com/office/powerpoint/2010/main" val="4247046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8" cstate="screen"/>
          <a:srcRect/>
          <a:stretch>
            <a:fillRect/>
          </a:stretch>
        </p:blipFill>
        <p:spPr bwMode="auto">
          <a:xfrm>
            <a:off x="10126844" y="6519336"/>
            <a:ext cx="1644464" cy="252994"/>
          </a:xfrm>
          <a:prstGeom prst="rect">
            <a:avLst/>
          </a:prstGeom>
          <a:noFill/>
          <a:ln w="9525">
            <a:noFill/>
            <a:miter lim="800000"/>
            <a:headEnd/>
            <a:tailEnd/>
          </a:ln>
          <a:effectLst/>
        </p:spPr>
      </p:pic>
      <p:pic>
        <p:nvPicPr>
          <p:cNvPr id="1027" name="Picture 3"/>
          <p:cNvPicPr>
            <a:picLocks noChangeAspect="1" noChangeArrowheads="1"/>
          </p:cNvPicPr>
          <p:nvPr/>
        </p:nvPicPr>
        <p:blipFill>
          <a:blip r:embed="rId9" cstate="screen"/>
          <a:srcRect/>
          <a:stretch>
            <a:fillRect/>
          </a:stretch>
        </p:blipFill>
        <p:spPr bwMode="auto">
          <a:xfrm>
            <a:off x="10368411" y="-1"/>
            <a:ext cx="1823588" cy="1370857"/>
          </a:xfrm>
          <a:prstGeom prst="rect">
            <a:avLst/>
          </a:prstGeom>
          <a:noFill/>
          <a:ln w="9525">
            <a:noFill/>
            <a:miter lim="800000"/>
            <a:headEnd/>
            <a:tailEnd/>
          </a:ln>
          <a:effectLst/>
        </p:spPr>
      </p:pic>
      <p:sp>
        <p:nvSpPr>
          <p:cNvPr id="2" name="Title Placeholder 1"/>
          <p:cNvSpPr>
            <a:spLocks noGrp="1"/>
          </p:cNvSpPr>
          <p:nvPr>
            <p:ph type="title"/>
          </p:nvPr>
        </p:nvSpPr>
        <p:spPr>
          <a:xfrm>
            <a:off x="682752" y="381001"/>
            <a:ext cx="10805136" cy="373531"/>
          </a:xfrm>
          <a:prstGeom prst="rect">
            <a:avLst/>
          </a:prstGeom>
        </p:spPr>
        <p:txBody>
          <a:bodyPr vert="horz" lIns="91440" tIns="45720" rIns="91440" bIns="45720" rtlCol="0" anchor="t">
            <a:noAutofit/>
          </a:bodyPr>
          <a:lstStyle/>
          <a:p>
            <a:r>
              <a:rPr lang="en-US" dirty="0"/>
              <a:t>CLICK TO EDIT MASTER TITLE STYLE</a:t>
            </a:r>
          </a:p>
        </p:txBody>
      </p:sp>
      <p:sp>
        <p:nvSpPr>
          <p:cNvPr id="9" name="Slide Number Placeholder 5"/>
          <p:cNvSpPr>
            <a:spLocks noGrp="1"/>
          </p:cNvSpPr>
          <p:nvPr>
            <p:ph type="sldNum" sz="quarter" idx="4"/>
          </p:nvPr>
        </p:nvSpPr>
        <p:spPr>
          <a:xfrm>
            <a:off x="11645815" y="-28146"/>
            <a:ext cx="674365" cy="503963"/>
          </a:xfrm>
          <a:prstGeom prst="rect">
            <a:avLst/>
          </a:prstGeom>
        </p:spPr>
        <p:txBody>
          <a:bodyPr vert="horz" lIns="91440" tIns="45720" rIns="91440" bIns="45720" rtlCol="0" anchor="ctr"/>
          <a:lstStyle>
            <a:lvl1pPr algn="l">
              <a:defRPr sz="1000" b="1" i="0">
                <a:solidFill>
                  <a:schemeClr val="bg1"/>
                </a:solidFill>
                <a:latin typeface="HelveticaNeue MediumCond"/>
                <a:cs typeface="HelveticaNeue MediumCond"/>
              </a:defRPr>
            </a:lvl1pPr>
          </a:lstStyle>
          <a:p>
            <a:pPr defTabSz="457200"/>
            <a:fld id="{2066355A-084C-D24E-9AD2-7E4FC41EA627}" type="slidenum">
              <a:rPr lang="en-US" smtClean="0">
                <a:solidFill>
                  <a:prstClr val="white"/>
                </a:solidFill>
              </a:rPr>
              <a:pPr defTabSz="457200"/>
              <a:t>‹#›</a:t>
            </a:fld>
            <a:endParaRPr lang="en-US" dirty="0">
              <a:solidFill>
                <a:prstClr val="white"/>
              </a:solidFill>
            </a:endParaRPr>
          </a:p>
        </p:txBody>
      </p:sp>
      <p:pic>
        <p:nvPicPr>
          <p:cNvPr id="10" name="Picture 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11613" y="6303234"/>
            <a:ext cx="1313563" cy="613714"/>
          </a:xfrm>
          <a:prstGeom prst="rect">
            <a:avLst/>
          </a:prstGeom>
        </p:spPr>
      </p:pic>
    </p:spTree>
    <p:extLst>
      <p:ext uri="{BB962C8B-B14F-4D97-AF65-F5344CB8AC3E}">
        <p14:creationId xmlns:p14="http://schemas.microsoft.com/office/powerpoint/2010/main" val="143370215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hdr="0" ftr="0" dt="0"/>
  <p:txStyles>
    <p:titleStyle>
      <a:lvl1pPr algn="l" defTabSz="457200" rtl="0" eaLnBrk="1" latinLnBrk="0" hangingPunct="1">
        <a:spcBef>
          <a:spcPct val="0"/>
        </a:spcBef>
        <a:buNone/>
        <a:defRPr sz="2400" b="1" i="0" kern="1200" cap="all" baseline="0">
          <a:solidFill>
            <a:schemeClr val="tx1"/>
          </a:solidFill>
          <a:latin typeface="Arial" pitchFamily="34" charset="0"/>
          <a:ea typeface="+mj-ea"/>
          <a:cs typeface="Arial" pitchFamily="34" charset="0"/>
        </a:defRPr>
      </a:lvl1pPr>
    </p:titleStyle>
    <p:bodyStyle>
      <a:lvl1pPr marL="169863" indent="-169863" algn="l" defTabSz="457200" rtl="0" eaLnBrk="1" latinLnBrk="0" hangingPunct="1">
        <a:spcBef>
          <a:spcPct val="20000"/>
        </a:spcBef>
        <a:buClr>
          <a:srgbClr val="C00000"/>
        </a:buClr>
        <a:buFont typeface="Arial" panose="020B0604020202020204" pitchFamily="34" charset="0"/>
        <a:buChar char="•"/>
        <a:defRPr sz="2000" b="0" i="0" kern="1200">
          <a:solidFill>
            <a:schemeClr val="tx1"/>
          </a:solidFill>
          <a:latin typeface="Arial" pitchFamily="34" charset="0"/>
          <a:ea typeface="+mn-ea"/>
          <a:cs typeface="Arial" pitchFamily="34" charset="0"/>
        </a:defRPr>
      </a:lvl1pPr>
      <a:lvl2pPr marL="627063" indent="-169863" algn="l" defTabSz="457200" rtl="0" eaLnBrk="1" latinLnBrk="0" hangingPunct="1">
        <a:spcBef>
          <a:spcPct val="20000"/>
        </a:spcBef>
        <a:buFont typeface="Arial" panose="020B0604020202020204" pitchFamily="34" charset="0"/>
        <a:buChar char="-"/>
        <a:defRPr sz="1800" kern="1200">
          <a:solidFill>
            <a:schemeClr val="tx1"/>
          </a:solidFill>
          <a:latin typeface="Arial" pitchFamily="34" charset="0"/>
          <a:ea typeface="+mn-ea"/>
          <a:cs typeface="Arial" pitchFamily="34" charset="0"/>
        </a:defRPr>
      </a:lvl2pPr>
      <a:lvl3pPr marL="1084263" indent="-169863" algn="l" defTabSz="457200" rtl="0" eaLnBrk="1" latinLnBrk="0" hangingPunct="1">
        <a:spcBef>
          <a:spcPct val="20000"/>
        </a:spcBef>
        <a:buClr>
          <a:schemeClr val="tx1">
            <a:lumMod val="50000"/>
            <a:lumOff val="50000"/>
          </a:schemeClr>
        </a:buClr>
        <a:buSzPct val="90000"/>
        <a:buFont typeface="Wingdings" panose="05000000000000000000" pitchFamily="2" charset="2"/>
        <a:buChar char="§"/>
        <a:defRPr sz="1600" kern="1200">
          <a:solidFill>
            <a:schemeClr val="tx1"/>
          </a:solidFill>
          <a:latin typeface="Arial" pitchFamily="34" charset="0"/>
          <a:ea typeface="+mn-ea"/>
          <a:cs typeface="Arial"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Helvetica Neue"/>
          <a:ea typeface="+mn-ea"/>
          <a:cs typeface="Helvetica Neue"/>
        </a:defRPr>
      </a:lvl4pPr>
      <a:lvl5pPr marL="2057400" indent="-228600" algn="l" defTabSz="457200" rtl="0" eaLnBrk="1" latinLnBrk="0" hangingPunct="1">
        <a:spcBef>
          <a:spcPct val="20000"/>
        </a:spcBef>
        <a:buFont typeface="Arial"/>
        <a:buChar char="»"/>
        <a:defRPr sz="2000" kern="1200">
          <a:solidFill>
            <a:schemeClr val="tx1"/>
          </a:solidFill>
          <a:latin typeface="Helvetica Neue"/>
          <a:ea typeface="+mn-ea"/>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5686985"/>
            <a:ext cx="1447800" cy="1171015"/>
          </a:xfrm>
          <a:prstGeom prst="rect">
            <a:avLst/>
          </a:prstGeom>
          <a:solidFill>
            <a:schemeClr val="accent6"/>
          </a:solidFill>
        </p:spPr>
      </p:pic>
      <p:sp>
        <p:nvSpPr>
          <p:cNvPr id="9" name="TextBox 8"/>
          <p:cNvSpPr txBox="1"/>
          <p:nvPr/>
        </p:nvSpPr>
        <p:spPr>
          <a:xfrm>
            <a:off x="6232072" y="4441808"/>
            <a:ext cx="5129348" cy="646331"/>
          </a:xfrm>
          <a:prstGeom prst="rect">
            <a:avLst/>
          </a:prstGeom>
          <a:noFill/>
        </p:spPr>
        <p:txBody>
          <a:bodyPr wrap="square" rtlCol="0">
            <a:spAutoFit/>
          </a:bodyPr>
          <a:lstStyle/>
          <a:p>
            <a:r>
              <a:rPr lang="en-US" dirty="0" err="1" smtClean="0">
                <a:cs typeface="Times New Roman" panose="02020603050405020304" pitchFamily="18" charset="0"/>
              </a:rPr>
              <a:t>Wenyuan</a:t>
            </a:r>
            <a:r>
              <a:rPr lang="en-US" dirty="0" smtClean="0">
                <a:cs typeface="Times New Roman" panose="02020603050405020304" pitchFamily="18" charset="0"/>
              </a:rPr>
              <a:t> Cui &amp; </a:t>
            </a:r>
            <a:r>
              <a:rPr lang="en-US" dirty="0" err="1" smtClean="0">
                <a:cs typeface="Times New Roman" panose="02020603050405020304" pitchFamily="18" charset="0"/>
              </a:rPr>
              <a:t>Hao</a:t>
            </a:r>
            <a:r>
              <a:rPr lang="en-US" dirty="0" smtClean="0">
                <a:cs typeface="Times New Roman" panose="02020603050405020304" pitchFamily="18" charset="0"/>
              </a:rPr>
              <a:t> </a:t>
            </a:r>
            <a:r>
              <a:rPr lang="en-US" dirty="0" smtClean="0">
                <a:cs typeface="Times New Roman" panose="02020603050405020304" pitchFamily="18" charset="0"/>
              </a:rPr>
              <a:t>Wu</a:t>
            </a:r>
          </a:p>
          <a:p>
            <a:r>
              <a:rPr lang="en-US" dirty="0" smtClean="0">
                <a:cs typeface="Times New Roman" panose="02020603050405020304" pitchFamily="18" charset="0"/>
              </a:rPr>
              <a:t>Mechanical and Aerospace </a:t>
            </a:r>
            <a:r>
              <a:rPr lang="en-US" dirty="0" smtClean="0">
                <a:cs typeface="Times New Roman" panose="02020603050405020304" pitchFamily="18" charset="0"/>
              </a:rPr>
              <a:t>Engineering</a:t>
            </a:r>
            <a:endParaRPr lang="en-US" dirty="0" smtClean="0">
              <a:cs typeface="Times New Roman" panose="02020603050405020304" pitchFamily="18" charset="0"/>
            </a:endParaRPr>
          </a:p>
        </p:txBody>
      </p:sp>
      <p:sp>
        <p:nvSpPr>
          <p:cNvPr id="3" name="Rectangle 2"/>
          <p:cNvSpPr/>
          <p:nvPr/>
        </p:nvSpPr>
        <p:spPr>
          <a:xfrm>
            <a:off x="723900" y="2452692"/>
            <a:ext cx="11016344" cy="523220"/>
          </a:xfrm>
          <a:prstGeom prst="rect">
            <a:avLst/>
          </a:prstGeom>
        </p:spPr>
        <p:txBody>
          <a:bodyPr wrap="square">
            <a:spAutoFit/>
          </a:bodyPr>
          <a:lstStyle/>
          <a:p>
            <a:r>
              <a:rPr lang="en-US" sz="2800" b="1" dirty="0">
                <a:cs typeface="Times New Roman" panose="02020603050405020304" pitchFamily="18" charset="0"/>
              </a:rPr>
              <a:t>Assessment of air quality associated with socioeconomic status </a:t>
            </a:r>
            <a:r>
              <a:rPr lang="en-US" sz="2800" b="1" dirty="0" smtClean="0">
                <a:cs typeface="Times New Roman" panose="02020603050405020304" pitchFamily="18" charset="0"/>
              </a:rPr>
              <a:t>in China</a:t>
            </a:r>
            <a:endParaRPr lang="en-US" sz="2800" b="1" dirty="0">
              <a:cs typeface="Times New Roman" panose="02020603050405020304" pitchFamily="18" charset="0"/>
            </a:endParaRPr>
          </a:p>
        </p:txBody>
      </p:sp>
    </p:spTree>
    <p:extLst>
      <p:ext uri="{BB962C8B-B14F-4D97-AF65-F5344CB8AC3E}">
        <p14:creationId xmlns:p14="http://schemas.microsoft.com/office/powerpoint/2010/main" val="9150245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5686985"/>
            <a:ext cx="1447800" cy="1171015"/>
          </a:xfrm>
          <a:prstGeom prst="rect">
            <a:avLst/>
          </a:prstGeom>
          <a:solidFill>
            <a:schemeClr val="accent6"/>
          </a:solidFill>
        </p:spPr>
      </p:pic>
      <p:sp>
        <p:nvSpPr>
          <p:cNvPr id="13" name="Text Placeholder 3">
            <a:extLst>
              <a:ext uri="{FF2B5EF4-FFF2-40B4-BE49-F238E27FC236}">
                <a16:creationId xmlns="" xmlns:a16="http://schemas.microsoft.com/office/drawing/2014/main" id="{E7117D5C-7458-4758-B532-10F88BFDD877}"/>
              </a:ext>
            </a:extLst>
          </p:cNvPr>
          <p:cNvSpPr txBox="1">
            <a:spLocks/>
          </p:cNvSpPr>
          <p:nvPr/>
        </p:nvSpPr>
        <p:spPr>
          <a:xfrm>
            <a:off x="64656" y="467080"/>
            <a:ext cx="12053453" cy="460021"/>
          </a:xfrm>
          <a:prstGeom prst="rect">
            <a:avLst/>
          </a:prstGeom>
          <a:ln>
            <a:noFill/>
          </a:ln>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4000" b="0" i="0" kern="1200" baseline="0">
                <a:solidFill>
                  <a:schemeClr val="bg2"/>
                </a:solidFill>
                <a:latin typeface="Orgon Slab Medium"/>
                <a:ea typeface="+mn-ea"/>
                <a:cs typeface="Orgon Slab Medium"/>
              </a:defRPr>
            </a:lvl1pPr>
            <a:lvl2pPr marL="609585" indent="0" algn="l" defTabSz="914400" rtl="0" eaLnBrk="1" latinLnBrk="0" hangingPunct="1">
              <a:lnSpc>
                <a:spcPct val="90000"/>
              </a:lnSpc>
              <a:spcBef>
                <a:spcPts val="500"/>
              </a:spcBef>
              <a:buFont typeface="Arial" panose="020B0604020202020204" pitchFamily="34" charset="0"/>
              <a:buNone/>
              <a:defRPr sz="2400" b="0" i="0" kern="1200">
                <a:solidFill>
                  <a:srgbClr val="E8D3A2"/>
                </a:solidFill>
                <a:latin typeface="Encode Sans Normal Black"/>
                <a:ea typeface="+mn-ea"/>
                <a:cs typeface="Encode Sans Normal Black"/>
              </a:defRPr>
            </a:lvl2pPr>
            <a:lvl3pPr marL="1219170" indent="0" algn="l" defTabSz="914400" rtl="0" eaLnBrk="1" latinLnBrk="0" hangingPunct="1">
              <a:lnSpc>
                <a:spcPct val="90000"/>
              </a:lnSpc>
              <a:spcBef>
                <a:spcPts val="500"/>
              </a:spcBef>
              <a:buFont typeface="Arial" panose="020B0604020202020204" pitchFamily="34" charset="0"/>
              <a:buNone/>
              <a:defRPr sz="2000" b="0" i="0" kern="1200">
                <a:solidFill>
                  <a:srgbClr val="E8D3A2"/>
                </a:solidFill>
                <a:latin typeface="Encode Sans Normal Black"/>
                <a:ea typeface="+mn-ea"/>
                <a:cs typeface="Encode Sans Normal Black"/>
              </a:defRPr>
            </a:lvl3pPr>
            <a:lvl4pPr marL="1828754" indent="0" algn="l" defTabSz="914400" rtl="0" eaLnBrk="1" latinLnBrk="0" hangingPunct="1">
              <a:lnSpc>
                <a:spcPct val="90000"/>
              </a:lnSpc>
              <a:spcBef>
                <a:spcPts val="500"/>
              </a:spcBef>
              <a:buFont typeface="Arial" panose="020B0604020202020204" pitchFamily="34" charset="0"/>
              <a:buNone/>
              <a:defRPr sz="1800" b="0" i="0" kern="1200">
                <a:solidFill>
                  <a:srgbClr val="E8D3A2"/>
                </a:solidFill>
                <a:latin typeface="Encode Sans Normal Black"/>
                <a:ea typeface="+mn-ea"/>
                <a:cs typeface="Encode Sans Normal Black"/>
              </a:defRPr>
            </a:lvl4pPr>
            <a:lvl5pPr marL="2438339" indent="0" algn="l" defTabSz="914400" rtl="0" eaLnBrk="1" latinLnBrk="0" hangingPunct="1">
              <a:lnSpc>
                <a:spcPct val="90000"/>
              </a:lnSpc>
              <a:spcBef>
                <a:spcPts val="500"/>
              </a:spcBef>
              <a:buFont typeface="Arial" panose="020B0604020202020204" pitchFamily="34" charset="0"/>
              <a:buNone/>
              <a:defRPr sz="1800" b="0" i="0" kern="1200">
                <a:solidFill>
                  <a:srgbClr val="E8D3A2"/>
                </a:solidFill>
                <a:latin typeface="Encode Sans Normal Black"/>
                <a:ea typeface="+mn-ea"/>
                <a:cs typeface="Encode Sans Normal Black"/>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dirty="0">
              <a:latin typeface="Arial" panose="020B0604020202020204" pitchFamily="34" charset="0"/>
              <a:cs typeface="Arial" panose="020B0604020202020204" pitchFamily="34" charset="0"/>
            </a:endParaRPr>
          </a:p>
        </p:txBody>
      </p:sp>
      <p:sp>
        <p:nvSpPr>
          <p:cNvPr id="7" name="Text Placeholder 1">
            <a:extLst>
              <a:ext uri="{FF2B5EF4-FFF2-40B4-BE49-F238E27FC236}">
                <a16:creationId xmlns="" xmlns:a16="http://schemas.microsoft.com/office/drawing/2014/main" id="{42BBCC81-A680-4EA4-B3F8-EB736D95FE49}"/>
              </a:ext>
            </a:extLst>
          </p:cNvPr>
          <p:cNvSpPr>
            <a:spLocks noGrp="1"/>
          </p:cNvSpPr>
          <p:nvPr>
            <p:ph type="body" sz="quarter" idx="11"/>
          </p:nvPr>
        </p:nvSpPr>
        <p:spPr>
          <a:xfrm>
            <a:off x="411432" y="1295698"/>
            <a:ext cx="11220563" cy="572364"/>
          </a:xfrm>
        </p:spPr>
        <p:txBody>
          <a:bodyPr>
            <a:normAutofit/>
          </a:bodyPr>
          <a:lstStyle/>
          <a:p>
            <a:pPr marL="0" indent="0">
              <a:buNone/>
            </a:pPr>
            <a:r>
              <a:rPr lang="en-US" sz="2800" b="1" dirty="0">
                <a:solidFill>
                  <a:srgbClr val="FF0000"/>
                </a:solidFill>
                <a:latin typeface="+mn-lt"/>
                <a:cs typeface="+mn-cs"/>
              </a:rPr>
              <a:t>Goal: </a:t>
            </a:r>
            <a:r>
              <a:rPr lang="en-US" sz="2800" b="1" dirty="0">
                <a:solidFill>
                  <a:schemeClr val="tx1"/>
                </a:solidFill>
                <a:latin typeface="+mn-lt"/>
                <a:cs typeface="+mn-cs"/>
              </a:rPr>
              <a:t>find the cause of air pollution in China by </a:t>
            </a:r>
            <a:r>
              <a:rPr lang="en-US" sz="2800" b="1" dirty="0" err="1">
                <a:solidFill>
                  <a:schemeClr val="tx1"/>
                </a:solidFill>
                <a:latin typeface="+mn-lt"/>
                <a:cs typeface="+mn-cs"/>
              </a:rPr>
              <a:t>analying</a:t>
            </a:r>
            <a:r>
              <a:rPr lang="en-US" sz="2800" b="1" dirty="0">
                <a:solidFill>
                  <a:schemeClr val="tx1"/>
                </a:solidFill>
                <a:latin typeface="+mn-lt"/>
                <a:cs typeface="+mn-cs"/>
              </a:rPr>
              <a:t> air quality data </a:t>
            </a:r>
            <a:endParaRPr lang="en-US" sz="2800" b="1" dirty="0">
              <a:solidFill>
                <a:schemeClr val="tx1"/>
              </a:solidFill>
              <a:latin typeface="+mn-lt"/>
              <a:cs typeface="+mn-cs"/>
            </a:endParaRPr>
          </a:p>
        </p:txBody>
      </p:sp>
      <p:sp>
        <p:nvSpPr>
          <p:cNvPr id="8" name="TextBox 7"/>
          <p:cNvSpPr txBox="1"/>
          <p:nvPr/>
        </p:nvSpPr>
        <p:spPr>
          <a:xfrm>
            <a:off x="413393" y="2194559"/>
            <a:ext cx="9087658" cy="2677656"/>
          </a:xfrm>
          <a:prstGeom prst="rect">
            <a:avLst/>
          </a:prstGeom>
          <a:noFill/>
        </p:spPr>
        <p:txBody>
          <a:bodyPr wrap="square" rtlCol="0">
            <a:spAutoFit/>
          </a:bodyPr>
          <a:lstStyle/>
          <a:p>
            <a:r>
              <a:rPr lang="en-US" sz="2800" b="1" dirty="0">
                <a:solidFill>
                  <a:srgbClr val="FF0000"/>
                </a:solidFill>
              </a:rPr>
              <a:t>Outline:</a:t>
            </a:r>
          </a:p>
          <a:p>
            <a:pPr marL="457200" indent="-457200">
              <a:buFont typeface="Arial" panose="020B0604020202020204" pitchFamily="34" charset="0"/>
              <a:buChar char="•"/>
            </a:pPr>
            <a:r>
              <a:rPr lang="en-US" sz="2800" b="1" dirty="0"/>
              <a:t>Introduction</a:t>
            </a:r>
          </a:p>
          <a:p>
            <a:pPr marL="457200" indent="-457200">
              <a:buFont typeface="Arial" panose="020B0604020202020204" pitchFamily="34" charset="0"/>
              <a:buChar char="•"/>
            </a:pPr>
            <a:r>
              <a:rPr lang="en-US" sz="2800" b="1" dirty="0" smtClean="0"/>
              <a:t>Data source </a:t>
            </a:r>
            <a:r>
              <a:rPr lang="en-US" sz="2800" b="1" dirty="0"/>
              <a:t>and </a:t>
            </a:r>
            <a:r>
              <a:rPr lang="en-US" sz="2800" b="1" dirty="0"/>
              <a:t>c</a:t>
            </a:r>
            <a:r>
              <a:rPr lang="en-US" sz="2800" b="1" dirty="0" smtClean="0"/>
              <a:t>ollection</a:t>
            </a:r>
            <a:endParaRPr lang="en-US" sz="2800" b="1" dirty="0"/>
          </a:p>
          <a:p>
            <a:pPr marL="457200" indent="-457200">
              <a:buFont typeface="Arial" panose="020B0604020202020204" pitchFamily="34" charset="0"/>
              <a:buChar char="•"/>
            </a:pPr>
            <a:r>
              <a:rPr lang="en-US" sz="2800" b="1" dirty="0"/>
              <a:t>Data </a:t>
            </a:r>
            <a:r>
              <a:rPr lang="en-US" sz="2800" b="1" dirty="0" smtClean="0"/>
              <a:t>manipulation and visualization</a:t>
            </a:r>
            <a:endParaRPr lang="en-US" sz="2800" b="1" dirty="0"/>
          </a:p>
          <a:p>
            <a:pPr marL="457200" indent="-457200">
              <a:buFont typeface="Arial" panose="020B0604020202020204" pitchFamily="34" charset="0"/>
              <a:buChar char="•"/>
            </a:pPr>
            <a:r>
              <a:rPr lang="en-US" sz="2800" b="1" dirty="0" smtClean="0"/>
              <a:t>Regression analysis and Predictive modeling</a:t>
            </a:r>
          </a:p>
          <a:p>
            <a:pPr marL="457200" indent="-457200">
              <a:buFont typeface="Arial" panose="020B0604020202020204" pitchFamily="34" charset="0"/>
              <a:buChar char="•"/>
            </a:pPr>
            <a:r>
              <a:rPr lang="en-US" sz="2800" b="1" dirty="0"/>
              <a:t>Conclusion and Future </a:t>
            </a:r>
            <a:r>
              <a:rPr lang="en-US" sz="2800" b="1" dirty="0" smtClean="0"/>
              <a:t>Improvement</a:t>
            </a:r>
            <a:endParaRPr lang="en-US" sz="2800" b="1" dirty="0"/>
          </a:p>
        </p:txBody>
      </p:sp>
    </p:spTree>
    <p:extLst>
      <p:ext uri="{BB962C8B-B14F-4D97-AF65-F5344CB8AC3E}">
        <p14:creationId xmlns:p14="http://schemas.microsoft.com/office/powerpoint/2010/main" val="2160422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
          <p:cNvSpPr txBox="1">
            <a:spLocks/>
          </p:cNvSpPr>
          <p:nvPr/>
        </p:nvSpPr>
        <p:spPr>
          <a:xfrm>
            <a:off x="1781925" y="5916106"/>
            <a:ext cx="9596187" cy="979051"/>
          </a:xfrm>
          <a:prstGeom prst="rect">
            <a:avLst/>
          </a:prstGeom>
        </p:spPr>
        <p:txBody>
          <a:bodyPr vert="horz" lIns="91440" tIns="45720" rIns="91440" bIns="45720" rtlCol="0">
            <a:normAutofit/>
          </a:bodyPr>
          <a:lstStyle>
            <a:lvl1pPr marL="457189" indent="-457189" algn="l" defTabSz="914400" rtl="0" eaLnBrk="1" latinLnBrk="0" hangingPunct="1">
              <a:lnSpc>
                <a:spcPct val="90000"/>
              </a:lnSpc>
              <a:spcBef>
                <a:spcPts val="1000"/>
              </a:spcBef>
              <a:buFont typeface="Lucida Grande"/>
              <a:buChar char="&gt;"/>
              <a:defRPr sz="3200" b="0" i="0" kern="1200" baseline="0">
                <a:solidFill>
                  <a:srgbClr val="005F83"/>
                </a:solidFill>
                <a:latin typeface="Orgon Slab Light"/>
                <a:ea typeface="+mn-ea"/>
                <a:cs typeface="Orgon Slab Light"/>
              </a:defRPr>
            </a:lvl1pPr>
            <a:lvl2pPr marL="685800" indent="-228600" algn="l" defTabSz="914400" rtl="0" eaLnBrk="1" latinLnBrk="0" hangingPunct="1">
              <a:lnSpc>
                <a:spcPct val="90000"/>
              </a:lnSpc>
              <a:spcBef>
                <a:spcPts val="500"/>
              </a:spcBef>
              <a:buFont typeface="Arial" panose="020B0604020202020204" pitchFamily="34" charset="0"/>
              <a:buChar char="•"/>
              <a:defRPr sz="2667" b="0" i="0" kern="1200" baseline="0">
                <a:solidFill>
                  <a:srgbClr val="005F83"/>
                </a:solidFill>
                <a:latin typeface="Orgon Slab Light"/>
                <a:ea typeface="+mn-ea"/>
                <a:cs typeface="Orgon Slab Light"/>
              </a:defRPr>
            </a:lvl2pPr>
            <a:lvl3pPr marL="1523962" indent="-304792" algn="l" defTabSz="914400" rtl="0" eaLnBrk="1" latinLnBrk="0" hangingPunct="1">
              <a:lnSpc>
                <a:spcPct val="90000"/>
              </a:lnSpc>
              <a:spcBef>
                <a:spcPts val="500"/>
              </a:spcBef>
              <a:buSzPct val="100000"/>
              <a:buFont typeface="Lucida Grande"/>
              <a:buChar char="&gt;"/>
              <a:defRPr sz="2400" b="0" i="0" kern="1200" baseline="0">
                <a:solidFill>
                  <a:srgbClr val="005F83"/>
                </a:solidFill>
                <a:latin typeface="Orgon Slab Light"/>
                <a:ea typeface="+mn-ea"/>
                <a:cs typeface="Orgon Slab Light"/>
              </a:defRPr>
            </a:lvl3pPr>
            <a:lvl4pPr marL="1600200" indent="-228600" algn="l" defTabSz="914400" rtl="0" eaLnBrk="1" latinLnBrk="0" hangingPunct="1">
              <a:lnSpc>
                <a:spcPct val="90000"/>
              </a:lnSpc>
              <a:spcBef>
                <a:spcPts val="500"/>
              </a:spcBef>
              <a:buFont typeface="Arial" panose="020B0604020202020204" pitchFamily="34" charset="0"/>
              <a:buChar char="•"/>
              <a:defRPr sz="2133" b="0" i="0" kern="1200" baseline="0">
                <a:solidFill>
                  <a:srgbClr val="005F83"/>
                </a:solidFill>
                <a:latin typeface="Orgon Slab Light"/>
                <a:ea typeface="+mn-ea"/>
                <a:cs typeface="Orgon Slab Light"/>
              </a:defRPr>
            </a:lvl4pPr>
            <a:lvl5pPr marL="2743131" indent="-304792" algn="l" defTabSz="914400" rtl="0" eaLnBrk="1" latinLnBrk="0" hangingPunct="1">
              <a:lnSpc>
                <a:spcPct val="90000"/>
              </a:lnSpc>
              <a:spcBef>
                <a:spcPts val="500"/>
              </a:spcBef>
              <a:buFont typeface="Lucida Grande"/>
              <a:buChar char="&gt;"/>
              <a:defRPr sz="1867" b="0" i="0" kern="1200" baseline="0">
                <a:solidFill>
                  <a:srgbClr val="005F83"/>
                </a:solidFill>
                <a:latin typeface="Orgon Slab Light"/>
                <a:ea typeface="+mn-ea"/>
                <a:cs typeface="Orgon Slab Ligh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endParaRPr lang="en-US" sz="2200" dirty="0"/>
          </a:p>
        </p:txBody>
      </p:sp>
      <p:sp>
        <p:nvSpPr>
          <p:cNvPr id="4" name="Rectangle 3"/>
          <p:cNvSpPr/>
          <p:nvPr/>
        </p:nvSpPr>
        <p:spPr>
          <a:xfrm>
            <a:off x="587965" y="306654"/>
            <a:ext cx="2771143" cy="584775"/>
          </a:xfrm>
          <a:prstGeom prst="rect">
            <a:avLst/>
          </a:prstGeom>
        </p:spPr>
        <p:txBody>
          <a:bodyPr wrap="none">
            <a:spAutoFit/>
          </a:bodyPr>
          <a:lstStyle/>
          <a:p>
            <a:pPr marL="457200" indent="-457200">
              <a:buFont typeface="Arial" panose="020B0604020202020204" pitchFamily="34" charset="0"/>
              <a:buChar char="•"/>
            </a:pPr>
            <a:r>
              <a:rPr lang="en-US" sz="3200" b="1" dirty="0"/>
              <a:t>Introduction</a:t>
            </a:r>
            <a:endParaRPr lang="en-US" sz="3200" b="1" dirty="0"/>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b="5457"/>
          <a:stretch/>
        </p:blipFill>
        <p:spPr>
          <a:xfrm>
            <a:off x="7565348" y="306654"/>
            <a:ext cx="4626652" cy="291609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5348" y="3231461"/>
            <a:ext cx="4626652" cy="3052098"/>
          </a:xfrm>
          <a:prstGeom prst="rect">
            <a:avLst/>
          </a:prstGeom>
        </p:spPr>
      </p:pic>
      <p:sp>
        <p:nvSpPr>
          <p:cNvPr id="8" name="Rectangle 7"/>
          <p:cNvSpPr/>
          <p:nvPr/>
        </p:nvSpPr>
        <p:spPr>
          <a:xfrm>
            <a:off x="228868" y="1210705"/>
            <a:ext cx="7036294" cy="1754326"/>
          </a:xfrm>
          <a:prstGeom prst="rect">
            <a:avLst/>
          </a:prstGeom>
        </p:spPr>
        <p:txBody>
          <a:bodyPr wrap="square">
            <a:spAutoFit/>
          </a:bodyPr>
          <a:lstStyle/>
          <a:p>
            <a:r>
              <a:rPr lang="en-US" dirty="0">
                <a:solidFill>
                  <a:srgbClr val="002060"/>
                </a:solidFill>
              </a:rPr>
              <a:t>What is air pollution and what causes it</a:t>
            </a:r>
            <a:r>
              <a:rPr lang="en-US" dirty="0" smtClean="0">
                <a:solidFill>
                  <a:srgbClr val="002060"/>
                </a:solidFill>
              </a:rPr>
              <a:t>?</a:t>
            </a:r>
          </a:p>
          <a:p>
            <a:endParaRPr lang="en-US" dirty="0" smtClean="0"/>
          </a:p>
          <a:p>
            <a:pPr marL="285750" indent="-285750">
              <a:buFont typeface="Arial" panose="020B0604020202020204" pitchFamily="34" charset="0"/>
              <a:buChar char="•"/>
            </a:pPr>
            <a:r>
              <a:rPr lang="en-US" dirty="0" smtClean="0"/>
              <a:t>Air pollution can be defined as the presence of toxic chemicals such as PM2.5,PM10,CO,SO2,etc in the air</a:t>
            </a:r>
          </a:p>
          <a:p>
            <a:pPr marL="285750" indent="-285750">
              <a:buFont typeface="Arial" panose="020B0604020202020204" pitchFamily="34" charset="0"/>
              <a:buChar char="•"/>
            </a:pPr>
            <a:r>
              <a:rPr lang="en-US" dirty="0" smtClean="0"/>
              <a:t>It is caused by human activities such as mining , industrial work, transportation, construction, etc.</a:t>
            </a:r>
            <a:endParaRPr lang="en-US" dirty="0"/>
          </a:p>
        </p:txBody>
      </p:sp>
      <p:sp>
        <p:nvSpPr>
          <p:cNvPr id="9" name="Rectangle 8"/>
          <p:cNvSpPr/>
          <p:nvPr/>
        </p:nvSpPr>
        <p:spPr>
          <a:xfrm>
            <a:off x="277786" y="4674839"/>
            <a:ext cx="7434471" cy="2031325"/>
          </a:xfrm>
          <a:prstGeom prst="rect">
            <a:avLst/>
          </a:prstGeom>
        </p:spPr>
        <p:txBody>
          <a:bodyPr wrap="none">
            <a:spAutoFit/>
          </a:bodyPr>
          <a:lstStyle/>
          <a:p>
            <a:r>
              <a:rPr lang="en-US" dirty="0">
                <a:solidFill>
                  <a:srgbClr val="002060"/>
                </a:solidFill>
              </a:rPr>
              <a:t>What benefits this project can provide to the society, organizations</a:t>
            </a:r>
            <a:r>
              <a:rPr lang="en-US" dirty="0" smtClean="0">
                <a:solidFill>
                  <a:srgbClr val="002060"/>
                </a:solidFill>
              </a:rPr>
              <a:t>,</a:t>
            </a:r>
          </a:p>
          <a:p>
            <a:r>
              <a:rPr lang="en-US" dirty="0" smtClean="0">
                <a:solidFill>
                  <a:srgbClr val="002060"/>
                </a:solidFill>
              </a:rPr>
              <a:t> </a:t>
            </a:r>
            <a:r>
              <a:rPr lang="en-US" dirty="0">
                <a:solidFill>
                  <a:srgbClr val="002060"/>
                </a:solidFill>
              </a:rPr>
              <a:t>or </a:t>
            </a:r>
            <a:r>
              <a:rPr lang="en-US" dirty="0" smtClean="0">
                <a:solidFill>
                  <a:srgbClr val="002060"/>
                </a:solidFill>
              </a:rPr>
              <a:t>individuals?</a:t>
            </a:r>
          </a:p>
          <a:p>
            <a:endParaRPr lang="en-US" dirty="0"/>
          </a:p>
          <a:p>
            <a:pPr marL="285750" indent="-285750">
              <a:buFont typeface="Arial" panose="020B0604020202020204" pitchFamily="34" charset="0"/>
              <a:buChar char="•"/>
            </a:pPr>
            <a:r>
              <a:rPr lang="en-US" dirty="0" smtClean="0"/>
              <a:t>Provide insights into the air quality with GDP and energy consumption</a:t>
            </a:r>
          </a:p>
          <a:p>
            <a:pPr marL="285750" indent="-285750">
              <a:buFont typeface="Arial" panose="020B0604020202020204" pitchFamily="34" charset="0"/>
              <a:buChar char="•"/>
            </a:pPr>
            <a:r>
              <a:rPr lang="en-US" dirty="0" smtClean="0"/>
              <a:t>It is useful for governments and environmental agencies to take measures </a:t>
            </a:r>
          </a:p>
          <a:p>
            <a:r>
              <a:rPr lang="en-US" dirty="0"/>
              <a:t> </a:t>
            </a:r>
            <a:r>
              <a:rPr lang="en-US" dirty="0" smtClean="0"/>
              <a:t>     of protecting our environment</a:t>
            </a:r>
          </a:p>
          <a:p>
            <a:endParaRPr lang="en-US" dirty="0"/>
          </a:p>
        </p:txBody>
      </p:sp>
      <p:sp>
        <p:nvSpPr>
          <p:cNvPr id="10" name="Rectangle 9"/>
          <p:cNvSpPr/>
          <p:nvPr/>
        </p:nvSpPr>
        <p:spPr>
          <a:xfrm>
            <a:off x="246286" y="3141617"/>
            <a:ext cx="6149889" cy="1200329"/>
          </a:xfrm>
          <a:prstGeom prst="rect">
            <a:avLst/>
          </a:prstGeom>
        </p:spPr>
        <p:txBody>
          <a:bodyPr wrap="none">
            <a:spAutoFit/>
          </a:bodyPr>
          <a:lstStyle/>
          <a:p>
            <a:r>
              <a:rPr lang="en-US" dirty="0">
                <a:solidFill>
                  <a:srgbClr val="002060"/>
                </a:solidFill>
              </a:rPr>
              <a:t>Why the air quality analysis matters</a:t>
            </a:r>
            <a:r>
              <a:rPr lang="en-US" dirty="0" smtClean="0">
                <a:solidFill>
                  <a:srgbClr val="002060"/>
                </a:solidFill>
              </a:rPr>
              <a:t>?</a:t>
            </a:r>
          </a:p>
          <a:p>
            <a:endParaRPr lang="en-US" dirty="0"/>
          </a:p>
          <a:p>
            <a:pPr marL="285750" indent="-285750">
              <a:buFont typeface="Arial" panose="020B0604020202020204" pitchFamily="34" charset="0"/>
              <a:buChar char="•"/>
            </a:pPr>
            <a:r>
              <a:rPr lang="en-US" dirty="0" smtClean="0"/>
              <a:t>Environment is being polluted</a:t>
            </a:r>
          </a:p>
          <a:p>
            <a:pPr marL="285750" indent="-285750">
              <a:buFont typeface="Arial" panose="020B0604020202020204" pitchFamily="34" charset="0"/>
              <a:buChar char="•"/>
            </a:pPr>
            <a:r>
              <a:rPr lang="en-US" dirty="0" smtClean="0"/>
              <a:t>Millions of people suffer from health risk due to air pollution</a:t>
            </a:r>
            <a:endParaRPr lang="en-US" dirty="0"/>
          </a:p>
        </p:txBody>
      </p:sp>
    </p:spTree>
    <p:extLst>
      <p:ext uri="{BB962C8B-B14F-4D97-AF65-F5344CB8AC3E}">
        <p14:creationId xmlns:p14="http://schemas.microsoft.com/office/powerpoint/2010/main" val="1743508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409918" y="274712"/>
            <a:ext cx="5141536" cy="584775"/>
          </a:xfrm>
          <a:prstGeom prst="rect">
            <a:avLst/>
          </a:prstGeom>
        </p:spPr>
        <p:txBody>
          <a:bodyPr wrap="none">
            <a:spAutoFit/>
          </a:bodyPr>
          <a:lstStyle/>
          <a:p>
            <a:pPr marL="457200" indent="-457200">
              <a:buFont typeface="Arial" panose="020B0604020202020204" pitchFamily="34" charset="0"/>
              <a:buChar char="•"/>
            </a:pPr>
            <a:r>
              <a:rPr lang="en-US" sz="3200" b="1" dirty="0"/>
              <a:t>Data source and collection</a:t>
            </a:r>
            <a:endParaRPr lang="en-US" sz="3200" b="1" dirty="0"/>
          </a:p>
        </p:txBody>
      </p:sp>
      <p:sp>
        <p:nvSpPr>
          <p:cNvPr id="3" name="Rectangle 2"/>
          <p:cNvSpPr/>
          <p:nvPr/>
        </p:nvSpPr>
        <p:spPr>
          <a:xfrm>
            <a:off x="409918" y="1121117"/>
            <a:ext cx="9666515" cy="5170646"/>
          </a:xfrm>
          <a:prstGeom prst="rect">
            <a:avLst/>
          </a:prstGeom>
        </p:spPr>
        <p:txBody>
          <a:bodyPr wrap="square">
            <a:spAutoFit/>
          </a:bodyPr>
          <a:lstStyle/>
          <a:p>
            <a:pPr marL="285750" indent="-285750">
              <a:buFont typeface="Arial" panose="020B0604020202020204" pitchFamily="34" charset="0"/>
              <a:buChar char="•"/>
            </a:pPr>
            <a:r>
              <a:rPr lang="en-US" dirty="0" smtClean="0"/>
              <a:t>The information of the data</a:t>
            </a:r>
          </a:p>
          <a:p>
            <a:pPr lvl="1"/>
            <a:r>
              <a:rPr lang="en-US" sz="1200" dirty="0" smtClean="0"/>
              <a:t>year: year of data in this row</a:t>
            </a:r>
          </a:p>
          <a:p>
            <a:pPr lvl="1"/>
            <a:r>
              <a:rPr lang="en-US" sz="1200" dirty="0" smtClean="0"/>
              <a:t>month: month of data in this row</a:t>
            </a:r>
          </a:p>
          <a:p>
            <a:pPr lvl="1"/>
            <a:r>
              <a:rPr lang="en-US" sz="1200" dirty="0" smtClean="0"/>
              <a:t>day: day of data in this row</a:t>
            </a:r>
          </a:p>
          <a:p>
            <a:pPr lvl="1"/>
            <a:r>
              <a:rPr lang="en-US" sz="1200" dirty="0" smtClean="0"/>
              <a:t>hour: hour of data in this row</a:t>
            </a:r>
          </a:p>
          <a:p>
            <a:pPr lvl="1"/>
            <a:r>
              <a:rPr lang="en-US" sz="1200" dirty="0" smtClean="0"/>
              <a:t>PM2.5: PM2.5 concentration (mg/m^3)</a:t>
            </a:r>
          </a:p>
          <a:p>
            <a:pPr lvl="1"/>
            <a:r>
              <a:rPr lang="en-US" sz="1200" dirty="0" smtClean="0"/>
              <a:t>PM2.5_24h: PM2.5 concentration 24 hourly average (mg/m^3)</a:t>
            </a:r>
          </a:p>
          <a:p>
            <a:pPr lvl="1"/>
            <a:r>
              <a:rPr lang="en-US" sz="1200" dirty="0" smtClean="0"/>
              <a:t>PM10: PM10 concentration (mg/m^3)</a:t>
            </a:r>
          </a:p>
          <a:p>
            <a:pPr lvl="1"/>
            <a:r>
              <a:rPr lang="en-US" sz="1200" dirty="0" smtClean="0"/>
              <a:t>PM10_24h: PM10 concentration 24 hourly average (mg/m^3)</a:t>
            </a:r>
          </a:p>
          <a:p>
            <a:pPr lvl="1"/>
            <a:r>
              <a:rPr lang="en-US" sz="1200" dirty="0" smtClean="0"/>
              <a:t>AQI: air quality index real time value</a:t>
            </a:r>
          </a:p>
          <a:p>
            <a:pPr lvl="1"/>
            <a:r>
              <a:rPr lang="en-US" sz="1200" dirty="0" smtClean="0"/>
              <a:t>SO2: sulfur dioxide real time concentration (mg/m^3)</a:t>
            </a:r>
          </a:p>
          <a:p>
            <a:pPr lvl="1"/>
            <a:r>
              <a:rPr lang="en-US" sz="1200" dirty="0" smtClean="0"/>
              <a:t>SO2_24h: sulfur dioxide 24 hourly average (mg/m^3)</a:t>
            </a:r>
          </a:p>
          <a:p>
            <a:pPr lvl="1"/>
            <a:r>
              <a:rPr lang="en-US" sz="1200" dirty="0" smtClean="0"/>
              <a:t>NO2: nitrogen dioxide real time concentration (mg/m^3)</a:t>
            </a:r>
          </a:p>
          <a:p>
            <a:pPr lvl="1"/>
            <a:r>
              <a:rPr lang="en-US" sz="1200" dirty="0" smtClean="0"/>
              <a:t>NO2_24h: nitrogen dioxide 24 hourly average (mg/m^3)</a:t>
            </a:r>
          </a:p>
          <a:p>
            <a:pPr lvl="1"/>
            <a:r>
              <a:rPr lang="en-US" sz="1200" dirty="0" smtClean="0"/>
              <a:t>O3: ozone real time concentration (mg/m^3)</a:t>
            </a:r>
          </a:p>
          <a:p>
            <a:pPr lvl="1"/>
            <a:r>
              <a:rPr lang="en-US" sz="1200" dirty="0" smtClean="0"/>
              <a:t>CO: carbon monoxide real time concentration (mg/m^3)</a:t>
            </a:r>
          </a:p>
          <a:p>
            <a:pPr lvl="1"/>
            <a:r>
              <a:rPr lang="en-US" sz="1200" dirty="0" smtClean="0"/>
              <a:t>CO_24h: carbon monoxide 24 hourly average(mg/m^3)</a:t>
            </a:r>
          </a:p>
          <a:p>
            <a:pPr lvl="1" fontAlgn="base"/>
            <a:r>
              <a:rPr lang="en-US" sz="1200" dirty="0"/>
              <a:t>DEWP: Dew Point (Celsius Degree)</a:t>
            </a:r>
          </a:p>
          <a:p>
            <a:pPr lvl="1" fontAlgn="base"/>
            <a:r>
              <a:rPr lang="en-US" sz="1200" dirty="0"/>
              <a:t>TEMP: Temperature (Celsius Degree)</a:t>
            </a:r>
          </a:p>
          <a:p>
            <a:pPr lvl="1" fontAlgn="base"/>
            <a:r>
              <a:rPr lang="en-US" sz="1200" dirty="0"/>
              <a:t>HUMI: Humidity (%)</a:t>
            </a:r>
          </a:p>
          <a:p>
            <a:pPr lvl="1" fontAlgn="base"/>
            <a:r>
              <a:rPr lang="en-US" sz="1200" dirty="0"/>
              <a:t>PRES: Pressure (</a:t>
            </a:r>
            <a:r>
              <a:rPr lang="en-US" sz="1200" dirty="0" err="1"/>
              <a:t>hPa</a:t>
            </a:r>
            <a:r>
              <a:rPr lang="en-US" sz="1200" dirty="0"/>
              <a:t>)</a:t>
            </a:r>
          </a:p>
          <a:p>
            <a:pPr lvl="1" fontAlgn="base"/>
            <a:r>
              <a:rPr lang="en-US" sz="1200" dirty="0" err="1"/>
              <a:t>cbwd</a:t>
            </a:r>
            <a:r>
              <a:rPr lang="en-US" sz="1200" dirty="0"/>
              <a:t>: Combined wind direction</a:t>
            </a:r>
          </a:p>
          <a:p>
            <a:pPr lvl="1" fontAlgn="base"/>
            <a:r>
              <a:rPr lang="en-US" sz="1200" dirty="0" err="1"/>
              <a:t>Iws</a:t>
            </a:r>
            <a:r>
              <a:rPr lang="en-US" sz="1200" dirty="0"/>
              <a:t>: Cumulated wind speed (</a:t>
            </a:r>
            <a:r>
              <a:rPr lang="en-US" sz="1200" dirty="0" smtClean="0"/>
              <a:t>m/s)</a:t>
            </a:r>
          </a:p>
          <a:p>
            <a:pPr lvl="1" fontAlgn="base"/>
            <a:endParaRPr lang="en-US" sz="1200" dirty="0" smtClean="0"/>
          </a:p>
          <a:p>
            <a:pPr lvl="1" fontAlgn="base"/>
            <a:r>
              <a:rPr lang="en-US" sz="1200" dirty="0"/>
              <a:t>The data source is measured from China National Environmental Monitoring Station of the national city air quality real-time release platform. The data was collected in five Chinese cities from 01/2015 to 12/2017</a:t>
            </a:r>
          </a:p>
          <a:p>
            <a:pPr lvl="1" fontAlgn="base"/>
            <a:endParaRPr lang="en-US" sz="1200" dirty="0"/>
          </a:p>
        </p:txBody>
      </p:sp>
    </p:spTree>
    <p:extLst>
      <p:ext uri="{BB962C8B-B14F-4D97-AF65-F5344CB8AC3E}">
        <p14:creationId xmlns:p14="http://schemas.microsoft.com/office/powerpoint/2010/main" val="5410650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4328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274442" y="139078"/>
            <a:ext cx="6765250" cy="584775"/>
          </a:xfrm>
          <a:prstGeom prst="rect">
            <a:avLst/>
          </a:prstGeom>
        </p:spPr>
        <p:txBody>
          <a:bodyPr wrap="none">
            <a:spAutoFit/>
          </a:bodyPr>
          <a:lstStyle/>
          <a:p>
            <a:pPr marL="457200" indent="-457200">
              <a:buFont typeface="Arial" panose="020B0604020202020204" pitchFamily="34" charset="0"/>
              <a:buChar char="•"/>
            </a:pPr>
            <a:r>
              <a:rPr lang="en-US" sz="3200" b="1" dirty="0"/>
              <a:t>Data manipulation and visualization</a:t>
            </a:r>
            <a:endParaRPr lang="en-US" sz="3200" b="1" dirty="0"/>
          </a:p>
        </p:txBody>
      </p:sp>
      <p:sp>
        <p:nvSpPr>
          <p:cNvPr id="8" name="Rectangle 7"/>
          <p:cNvSpPr/>
          <p:nvPr/>
        </p:nvSpPr>
        <p:spPr>
          <a:xfrm>
            <a:off x="520821" y="1204352"/>
            <a:ext cx="3711144" cy="369332"/>
          </a:xfrm>
          <a:prstGeom prst="rect">
            <a:avLst/>
          </a:prstGeom>
        </p:spPr>
        <p:txBody>
          <a:bodyPr wrap="none">
            <a:spAutoFit/>
          </a:bodyPr>
          <a:lstStyle/>
          <a:p>
            <a:pPr marL="342900" indent="-342900">
              <a:buFont typeface="+mj-lt"/>
              <a:buAutoNum type="arabicParenR"/>
            </a:pPr>
            <a:r>
              <a:rPr lang="en-US" dirty="0"/>
              <a:t>Air quality index (AQI) across time</a:t>
            </a:r>
            <a:endParaRPr lang="en-US"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661" y="1765273"/>
            <a:ext cx="4236598" cy="3253102"/>
          </a:xfrm>
          <a:prstGeom prst="rect">
            <a:avLst/>
          </a:prstGeom>
        </p:spPr>
      </p:pic>
      <p:sp>
        <p:nvSpPr>
          <p:cNvPr id="12" name="TextBox 11"/>
          <p:cNvSpPr txBox="1"/>
          <p:nvPr/>
        </p:nvSpPr>
        <p:spPr>
          <a:xfrm>
            <a:off x="413779" y="5322332"/>
            <a:ext cx="5865101"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overall AQI trend is decreasing for those five cities from 2015 to 2017</a:t>
            </a:r>
            <a:r>
              <a:rPr lang="en-US" sz="1400" dirty="0" smtClean="0"/>
              <a:t>.</a:t>
            </a:r>
          </a:p>
          <a:p>
            <a:pPr marL="285750" indent="-285750">
              <a:buFont typeface="Arial" panose="020B0604020202020204" pitchFamily="34" charset="0"/>
              <a:buChar char="•"/>
            </a:pPr>
            <a:r>
              <a:rPr lang="en-US" sz="1400" dirty="0" smtClean="0"/>
              <a:t>Beijing air quality is the worst among the five cites and Kunming has the best air quality</a:t>
            </a:r>
          </a:p>
          <a:p>
            <a:pPr marL="285750" indent="-285750">
              <a:buFont typeface="Arial" panose="020B0604020202020204" pitchFamily="34" charset="0"/>
              <a:buChar char="•"/>
            </a:pPr>
            <a:r>
              <a:rPr lang="en-US" sz="1400" dirty="0" smtClean="0"/>
              <a:t>Five cites show the same distribution which AQI is high in winter and low in summer</a:t>
            </a:r>
            <a:endParaRPr lang="en-US" sz="1400" dirty="0"/>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5669" y="645476"/>
            <a:ext cx="5782982" cy="5666546"/>
          </a:xfrm>
          <a:prstGeom prst="rect">
            <a:avLst/>
          </a:prstGeom>
        </p:spPr>
      </p:pic>
    </p:spTree>
    <p:extLst>
      <p:ext uri="{BB962C8B-B14F-4D97-AF65-F5344CB8AC3E}">
        <p14:creationId xmlns:p14="http://schemas.microsoft.com/office/powerpoint/2010/main" val="34052101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9"/>
          <p:cNvSpPr>
            <a:spLocks noChangeArrowheads="1"/>
          </p:cNvSpPr>
          <p:nvPr/>
        </p:nvSpPr>
        <p:spPr bwMode="auto">
          <a:xfrm>
            <a:off x="0" y="556826"/>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FF0000"/>
                </a:solidFill>
                <a:effectLst/>
                <a:latin typeface="Times New Roman" pitchFamily="18" charset="0"/>
                <a:ea typeface="SimSun" pitchFamily="2" charset="-122"/>
                <a:cs typeface="Times New Roman" pitchFamily="18" charset="0"/>
              </a:rPr>
              <a:t>	</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Rectangle 1"/>
          <p:cNvSpPr/>
          <p:nvPr/>
        </p:nvSpPr>
        <p:spPr>
          <a:xfrm>
            <a:off x="553998" y="1024822"/>
            <a:ext cx="4299062" cy="369332"/>
          </a:xfrm>
          <a:prstGeom prst="rect">
            <a:avLst/>
          </a:prstGeom>
        </p:spPr>
        <p:txBody>
          <a:bodyPr wrap="none">
            <a:spAutoFit/>
          </a:bodyPr>
          <a:lstStyle/>
          <a:p>
            <a:r>
              <a:rPr lang="en-US" dirty="0" smtClean="0"/>
              <a:t>2) Correlation analysis and feature selection</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775" y="1394154"/>
            <a:ext cx="3788272" cy="3211532"/>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971054378"/>
              </p:ext>
            </p:extLst>
          </p:nvPr>
        </p:nvGraphicFramePr>
        <p:xfrm>
          <a:off x="7471953" y="1111495"/>
          <a:ext cx="1619796" cy="4370870"/>
        </p:xfrm>
        <a:graphic>
          <a:graphicData uri="http://schemas.openxmlformats.org/drawingml/2006/table">
            <a:tbl>
              <a:tblPr/>
              <a:tblGrid>
                <a:gridCol w="753394"/>
                <a:gridCol w="866402"/>
              </a:tblGrid>
              <a:tr h="303744">
                <a:tc>
                  <a:txBody>
                    <a:bodyPr/>
                    <a:lstStyle/>
                    <a:p>
                      <a:pPr algn="ctr" fontAlgn="ctr"/>
                      <a:r>
                        <a:rPr lang="en-US" sz="1100" b="1" dirty="0">
                          <a:effectLst/>
                        </a:rPr>
                        <a:t>Type</a:t>
                      </a:r>
                    </a:p>
                  </a:txBody>
                  <a:tcPr marL="67990" marR="67990" marT="33995" marB="33995" anchor="ctr">
                    <a:lnL>
                      <a:noFill/>
                    </a:lnL>
                    <a:lnR>
                      <a:noFill/>
                    </a:lnR>
                    <a:lnT>
                      <a:noFill/>
                    </a:lnT>
                    <a:lnB>
                      <a:noFill/>
                    </a:lnB>
                    <a:solidFill>
                      <a:srgbClr val="FFFFFF"/>
                    </a:solidFill>
                  </a:tcPr>
                </a:tc>
                <a:tc>
                  <a:txBody>
                    <a:bodyPr/>
                    <a:lstStyle/>
                    <a:p>
                      <a:pPr algn="ctr" fontAlgn="ctr"/>
                      <a:r>
                        <a:rPr lang="en-US" sz="1100" b="1" dirty="0">
                          <a:effectLst/>
                        </a:rPr>
                        <a:t>importance</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PM2.5</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0.698992</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PM10</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0.173087</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CO</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0.066157</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kern="1200" dirty="0" smtClean="0">
                          <a:solidFill>
                            <a:schemeClr val="tx1"/>
                          </a:solidFill>
                          <a:effectLst/>
                          <a:latin typeface="+mn-lt"/>
                          <a:ea typeface="+mn-ea"/>
                          <a:cs typeface="+mn-cs"/>
                        </a:rPr>
                        <a:t>PM2.5_24h</a:t>
                      </a:r>
                      <a:endParaRPr lang="en-US" sz="1100" b="0" kern="1200" dirty="0">
                        <a:solidFill>
                          <a:schemeClr val="tx1"/>
                        </a:solidFill>
                        <a:effectLst/>
                        <a:latin typeface="+mn-lt"/>
                        <a:ea typeface="+mn-ea"/>
                        <a:cs typeface="+mn-cs"/>
                      </a:endParaRP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0.029023</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O3_8h</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0.015163</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NO2</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0.007671</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PM10_24h</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0.003801</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O3</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0.002417</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CO_24h</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0.001291</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O3_24h</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0.001087</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SO2_24h</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0.000568</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O3_8h_24h</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0.000474</a:t>
                      </a:r>
                    </a:p>
                  </a:txBody>
                  <a:tcPr marL="67990" marR="67990" marT="33995" marB="33995" anchor="ctr">
                    <a:lnL>
                      <a:noFill/>
                    </a:lnL>
                    <a:lnR>
                      <a:noFill/>
                    </a:lnR>
                    <a:lnT>
                      <a:noFill/>
                    </a:lnT>
                    <a:lnB>
                      <a:noFill/>
                    </a:lnB>
                    <a:solidFill>
                      <a:srgbClr val="FFFFFF"/>
                    </a:solidFill>
                  </a:tcPr>
                </a:tc>
              </a:tr>
              <a:tr h="259756">
                <a:tc>
                  <a:txBody>
                    <a:bodyPr/>
                    <a:lstStyle/>
                    <a:p>
                      <a:pPr algn="ctr" fontAlgn="t"/>
                      <a:r>
                        <a:rPr lang="en-US" sz="1100" b="0" dirty="0">
                          <a:effectLst/>
                        </a:rPr>
                        <a:t>SO2</a:t>
                      </a:r>
                    </a:p>
                  </a:txBody>
                  <a:tcPr marL="67990" marR="67990" marT="33995" marB="33995">
                    <a:lnL>
                      <a:noFill/>
                    </a:lnL>
                    <a:lnR>
                      <a:noFill/>
                    </a:lnR>
                    <a:lnT>
                      <a:noFill/>
                    </a:lnT>
                    <a:lnB>
                      <a:noFill/>
                    </a:lnB>
                    <a:solidFill>
                      <a:srgbClr val="F5F5F5"/>
                    </a:solidFill>
                  </a:tcPr>
                </a:tc>
                <a:tc>
                  <a:txBody>
                    <a:bodyPr/>
                    <a:lstStyle/>
                    <a:p>
                      <a:pPr algn="ctr" fontAlgn="ctr"/>
                      <a:r>
                        <a:rPr lang="en-US" sz="1100" dirty="0">
                          <a:effectLst/>
                        </a:rPr>
                        <a:t>0.000142</a:t>
                      </a:r>
                    </a:p>
                  </a:txBody>
                  <a:tcPr marL="67990" marR="67990" marT="33995" marB="33995" anchor="ctr">
                    <a:lnL>
                      <a:noFill/>
                    </a:lnL>
                    <a:lnR>
                      <a:noFill/>
                    </a:lnR>
                    <a:lnT>
                      <a:noFill/>
                    </a:lnT>
                    <a:lnB>
                      <a:noFill/>
                    </a:lnB>
                    <a:solidFill>
                      <a:srgbClr val="F5F5F5"/>
                    </a:solidFill>
                  </a:tcPr>
                </a:tc>
              </a:tr>
              <a:tr h="259756">
                <a:tc>
                  <a:txBody>
                    <a:bodyPr/>
                    <a:lstStyle/>
                    <a:p>
                      <a:pPr algn="ctr" fontAlgn="t"/>
                      <a:r>
                        <a:rPr lang="en-US" sz="1100" b="0" dirty="0">
                          <a:effectLst/>
                        </a:rPr>
                        <a:t>NO2_24h</a:t>
                      </a:r>
                    </a:p>
                  </a:txBody>
                  <a:tcPr marL="67990" marR="67990" marT="33995" marB="33995">
                    <a:lnL>
                      <a:noFill/>
                    </a:lnL>
                    <a:lnR>
                      <a:noFill/>
                    </a:lnR>
                    <a:lnT>
                      <a:noFill/>
                    </a:lnT>
                    <a:lnB>
                      <a:noFill/>
                    </a:lnB>
                    <a:solidFill>
                      <a:srgbClr val="FFFFFF"/>
                    </a:solidFill>
                  </a:tcPr>
                </a:tc>
                <a:tc>
                  <a:txBody>
                    <a:bodyPr/>
                    <a:lstStyle/>
                    <a:p>
                      <a:pPr algn="ctr" fontAlgn="ctr"/>
                      <a:r>
                        <a:rPr lang="en-US" sz="1100" dirty="0">
                          <a:effectLst/>
                        </a:rPr>
                        <a:t>0.000126</a:t>
                      </a:r>
                    </a:p>
                  </a:txBody>
                  <a:tcPr marL="67990" marR="67990" marT="33995" marB="33995" anchor="ctr">
                    <a:lnL>
                      <a:noFill/>
                    </a:lnL>
                    <a:lnR>
                      <a:noFill/>
                    </a:lnR>
                    <a:lnT>
                      <a:noFill/>
                    </a:lnT>
                    <a:lnB>
                      <a:noFill/>
                    </a:lnB>
                    <a:solidFill>
                      <a:srgbClr val="FFFFFF"/>
                    </a:solidFill>
                  </a:tcPr>
                </a:tc>
              </a:tr>
            </a:tbl>
          </a:graphicData>
        </a:graphic>
      </p:graphicFrame>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70" y="4508294"/>
            <a:ext cx="5451564" cy="2349705"/>
          </a:xfrm>
          <a:prstGeom prst="rect">
            <a:avLst/>
          </a:prstGeom>
        </p:spPr>
      </p:pic>
      <p:sp>
        <p:nvSpPr>
          <p:cNvPr id="14" name="Rectangle 13"/>
          <p:cNvSpPr/>
          <p:nvPr/>
        </p:nvSpPr>
        <p:spPr>
          <a:xfrm>
            <a:off x="5982788" y="5458437"/>
            <a:ext cx="6096000" cy="954107"/>
          </a:xfrm>
          <a:prstGeom prst="rect">
            <a:avLst/>
          </a:prstGeom>
        </p:spPr>
        <p:txBody>
          <a:bodyPr>
            <a:spAutoFit/>
          </a:bodyPr>
          <a:lstStyle/>
          <a:p>
            <a:r>
              <a:rPr lang="en-US" sz="1400" dirty="0"/>
              <a:t>Based on the feature selection, we can see that the important value of PM2.5 is the highest, PM10 ranks the second score of importance score, CO and O3 rank the 3rd and 4th important features. This result is consistent with the </a:t>
            </a:r>
            <a:r>
              <a:rPr lang="en-US" sz="1400" dirty="0" smtClean="0"/>
              <a:t>correlation </a:t>
            </a:r>
            <a:r>
              <a:rPr lang="en-US" sz="1400" dirty="0"/>
              <a:t>analysis.</a:t>
            </a:r>
            <a:endParaRPr lang="en-US" sz="1400" dirty="0"/>
          </a:p>
        </p:txBody>
      </p:sp>
      <p:sp>
        <p:nvSpPr>
          <p:cNvPr id="15" name="Rectangle 14"/>
          <p:cNvSpPr/>
          <p:nvPr/>
        </p:nvSpPr>
        <p:spPr>
          <a:xfrm>
            <a:off x="7145564" y="833825"/>
            <a:ext cx="2504532" cy="307777"/>
          </a:xfrm>
          <a:prstGeom prst="rect">
            <a:avLst/>
          </a:prstGeom>
        </p:spPr>
        <p:txBody>
          <a:bodyPr wrap="none">
            <a:spAutoFit/>
          </a:bodyPr>
          <a:lstStyle/>
          <a:p>
            <a:r>
              <a:rPr lang="en-US" sz="1400" dirty="0" smtClean="0"/>
              <a:t>Table feature importance table</a:t>
            </a:r>
            <a:endParaRPr lang="en-US" sz="1400" dirty="0"/>
          </a:p>
        </p:txBody>
      </p:sp>
    </p:spTree>
    <p:extLst>
      <p:ext uri="{BB962C8B-B14F-4D97-AF65-F5344CB8AC3E}">
        <p14:creationId xmlns:p14="http://schemas.microsoft.com/office/powerpoint/2010/main" val="1214711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5"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651666" y="1102026"/>
            <a:ext cx="2055434" cy="369332"/>
          </a:xfrm>
          <a:prstGeom prst="rect">
            <a:avLst/>
          </a:prstGeom>
        </p:spPr>
        <p:txBody>
          <a:bodyPr wrap="none">
            <a:spAutoFit/>
          </a:bodyPr>
          <a:lstStyle/>
          <a:p>
            <a:r>
              <a:rPr lang="en-US" dirty="0" smtClean="0"/>
              <a:t>3)  Review </a:t>
            </a:r>
            <a:r>
              <a:rPr lang="en-US" dirty="0"/>
              <a:t>of PM2.5</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892" y="1611086"/>
            <a:ext cx="3813379" cy="2390476"/>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063" y="4137827"/>
            <a:ext cx="9396548" cy="2554710"/>
          </a:xfrm>
          <a:prstGeom prst="rect">
            <a:avLst/>
          </a:prstGeom>
        </p:spPr>
      </p:pic>
      <p:sp>
        <p:nvSpPr>
          <p:cNvPr id="12" name="Rectangle 11"/>
          <p:cNvSpPr/>
          <p:nvPr/>
        </p:nvSpPr>
        <p:spPr>
          <a:xfrm>
            <a:off x="5111931" y="2022293"/>
            <a:ext cx="5177679" cy="1384995"/>
          </a:xfrm>
          <a:prstGeom prst="rect">
            <a:avLst/>
          </a:prstGeom>
        </p:spPr>
        <p:txBody>
          <a:bodyPr wrap="square">
            <a:spAutoFit/>
          </a:bodyPr>
          <a:lstStyle/>
          <a:p>
            <a:pPr marL="285750" indent="-285750" algn="just">
              <a:buFont typeface="Arial" panose="020B0604020202020204" pitchFamily="34" charset="0"/>
              <a:buChar char="•"/>
            </a:pPr>
            <a:r>
              <a:rPr lang="en-US" sz="1400" dirty="0"/>
              <a:t>The density plot presents the distribution of PM2.5 for five cities. It can tell that Beijing has the largest range of PM2.5, which means that the variance of PM2.5 is the highest. Shanghai and Kunming have more uniform density distribution of PM2.5 and the fluctuations are more stable</a:t>
            </a:r>
            <a:r>
              <a:rPr lang="en-US" sz="1400" dirty="0" smtClean="0"/>
              <a:t>.</a:t>
            </a:r>
          </a:p>
          <a:p>
            <a:pPr marL="285750" indent="-285750" algn="just">
              <a:buFont typeface="Arial" panose="020B0604020202020204" pitchFamily="34" charset="0"/>
              <a:buChar char="•"/>
            </a:pPr>
            <a:r>
              <a:rPr lang="en-US" sz="1400" dirty="0" smtClean="0"/>
              <a:t>AQI and PM2.5 have strong linear relationship in five cites</a:t>
            </a:r>
            <a:endParaRPr lang="en-US" sz="1400" dirty="0"/>
          </a:p>
        </p:txBody>
      </p:sp>
    </p:spTree>
    <p:extLst>
      <p:ext uri="{BB962C8B-B14F-4D97-AF65-F5344CB8AC3E}">
        <p14:creationId xmlns:p14="http://schemas.microsoft.com/office/powerpoint/2010/main" val="34052101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Rectangle 2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6" name="Rectangle 25"/>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622945" y="321957"/>
            <a:ext cx="8141139" cy="584775"/>
          </a:xfrm>
          <a:prstGeom prst="rect">
            <a:avLst/>
          </a:prstGeom>
        </p:spPr>
        <p:txBody>
          <a:bodyPr wrap="none">
            <a:spAutoFit/>
          </a:bodyPr>
          <a:lstStyle/>
          <a:p>
            <a:pPr marL="457200" indent="-457200">
              <a:buFont typeface="Arial" panose="020B0604020202020204" pitchFamily="34" charset="0"/>
              <a:buChar char="•"/>
            </a:pPr>
            <a:r>
              <a:rPr lang="en-US" sz="3200" b="1" dirty="0"/>
              <a:t>Regression analysis and Predictive modeling</a:t>
            </a:r>
          </a:p>
        </p:txBody>
      </p:sp>
      <p:sp>
        <p:nvSpPr>
          <p:cNvPr id="3" name="Rectangle 2"/>
          <p:cNvSpPr/>
          <p:nvPr/>
        </p:nvSpPr>
        <p:spPr>
          <a:xfrm>
            <a:off x="5736415" y="2613244"/>
            <a:ext cx="5175425" cy="2062103"/>
          </a:xfrm>
          <a:prstGeom prst="rect">
            <a:avLst/>
          </a:prstGeom>
        </p:spPr>
        <p:txBody>
          <a:bodyPr wrap="square">
            <a:spAutoFit/>
          </a:bodyPr>
          <a:lstStyle/>
          <a:p>
            <a:pPr marL="285750" indent="-285750" algn="just">
              <a:buFont typeface="Arial" panose="020B0604020202020204" pitchFamily="34" charset="0"/>
              <a:buChar char="•"/>
            </a:pPr>
            <a:r>
              <a:rPr lang="en-US" sz="1600" dirty="0"/>
              <a:t>CO, PM2.5 and CO_24h have a positive effect on Air Quality Index (AQI). Increasing 1 unit in CO concentration would increase AQI by 7.48 units after controlling for other factors. The positive effect of CO on AQI is statistically significant (P&lt;0.001).</a:t>
            </a:r>
          </a:p>
          <a:p>
            <a:pPr marL="285750" indent="-285750" algn="just">
              <a:buFont typeface="Arial" panose="020B0604020202020204" pitchFamily="34" charset="0"/>
              <a:buChar char="•"/>
            </a:pPr>
            <a:r>
              <a:rPr lang="en-US" sz="1600" dirty="0"/>
              <a:t>Predictors including CO_24h, O3 and PM10_24h do not have statistically significant effects on AQI (p-values &gt; 0.05).</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88" y="1514901"/>
            <a:ext cx="3474720" cy="5212080"/>
          </a:xfrm>
          <a:prstGeom prst="rect">
            <a:avLst/>
          </a:prstGeom>
        </p:spPr>
      </p:pic>
      <p:sp>
        <p:nvSpPr>
          <p:cNvPr id="6" name="Rectangle 5"/>
          <p:cNvSpPr/>
          <p:nvPr/>
        </p:nvSpPr>
        <p:spPr>
          <a:xfrm>
            <a:off x="622945" y="1063033"/>
            <a:ext cx="2342885" cy="369332"/>
          </a:xfrm>
          <a:prstGeom prst="rect">
            <a:avLst/>
          </a:prstGeom>
        </p:spPr>
        <p:txBody>
          <a:bodyPr wrap="none">
            <a:spAutoFit/>
          </a:bodyPr>
          <a:lstStyle/>
          <a:p>
            <a:r>
              <a:rPr lang="en-US" dirty="0" smtClean="0"/>
              <a:t>1)  Regression </a:t>
            </a:r>
            <a:r>
              <a:rPr lang="en-US" dirty="0"/>
              <a:t>Analysis</a:t>
            </a:r>
          </a:p>
        </p:txBody>
      </p:sp>
    </p:spTree>
    <p:extLst>
      <p:ext uri="{BB962C8B-B14F-4D97-AF65-F5344CB8AC3E}">
        <p14:creationId xmlns:p14="http://schemas.microsoft.com/office/powerpoint/2010/main" val="34052101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615" y="1124188"/>
            <a:ext cx="2393732" cy="369332"/>
          </a:xfrm>
          <a:prstGeom prst="rect">
            <a:avLst/>
          </a:prstGeom>
        </p:spPr>
        <p:txBody>
          <a:bodyPr wrap="none">
            <a:spAutoFit/>
          </a:bodyPr>
          <a:lstStyle/>
          <a:p>
            <a:r>
              <a:rPr lang="en-US" dirty="0" smtClean="0"/>
              <a:t>2)  Predictive </a:t>
            </a:r>
            <a:r>
              <a:rPr lang="en-US" dirty="0"/>
              <a:t>Modeling</a:t>
            </a:r>
          </a:p>
        </p:txBody>
      </p:sp>
      <p:sp>
        <p:nvSpPr>
          <p:cNvPr id="3" name="Rectangle 2"/>
          <p:cNvSpPr/>
          <p:nvPr/>
        </p:nvSpPr>
        <p:spPr>
          <a:xfrm>
            <a:off x="5421078" y="2069904"/>
            <a:ext cx="6441315" cy="1754326"/>
          </a:xfrm>
          <a:prstGeom prst="rect">
            <a:avLst/>
          </a:prstGeom>
        </p:spPr>
        <p:txBody>
          <a:bodyPr wrap="none">
            <a:spAutoFit/>
          </a:bodyPr>
          <a:lstStyle/>
          <a:p>
            <a:pPr marL="285750" indent="-285750">
              <a:buFont typeface="Arial" panose="020B0604020202020204" pitchFamily="34" charset="0"/>
              <a:buChar char="•"/>
            </a:pPr>
            <a:r>
              <a:rPr lang="en-US" dirty="0" smtClean="0"/>
              <a:t>Normalize data and split data into train dataset and test dataset</a:t>
            </a:r>
          </a:p>
          <a:p>
            <a:pPr marL="285750" indent="-285750">
              <a:buFont typeface="Arial" panose="020B0604020202020204" pitchFamily="34" charset="0"/>
              <a:buChar char="•"/>
            </a:pPr>
            <a:r>
              <a:rPr lang="en-US" dirty="0" smtClean="0"/>
              <a:t>Create </a:t>
            </a:r>
            <a:r>
              <a:rPr lang="en-US" dirty="0"/>
              <a:t>the design </a:t>
            </a:r>
            <a:r>
              <a:rPr lang="en-US" dirty="0" smtClean="0"/>
              <a:t>matrix</a:t>
            </a:r>
            <a:endParaRPr lang="en-US" dirty="0"/>
          </a:p>
          <a:p>
            <a:pPr marL="285750" indent="-285750">
              <a:buFont typeface="Arial" panose="020B0604020202020204" pitchFamily="34" charset="0"/>
              <a:buChar char="•"/>
            </a:pPr>
            <a:r>
              <a:rPr lang="en-US" dirty="0" smtClean="0"/>
              <a:t>tune </a:t>
            </a:r>
            <a:r>
              <a:rPr lang="en-US" dirty="0"/>
              <a:t>the parameters using the </a:t>
            </a:r>
            <a:r>
              <a:rPr lang="en-US" dirty="0" err="1" smtClean="0"/>
              <a:t>GridSearchCV</a:t>
            </a:r>
            <a:endParaRPr lang="en-US" dirty="0" smtClean="0"/>
          </a:p>
          <a:p>
            <a:pPr marL="285750" indent="-285750">
              <a:buFont typeface="Arial" panose="020B0604020202020204" pitchFamily="34" charset="0"/>
              <a:buChar char="•"/>
            </a:pPr>
            <a:r>
              <a:rPr lang="en-US" dirty="0"/>
              <a:t>fit the </a:t>
            </a:r>
            <a:r>
              <a:rPr lang="en-US" dirty="0" smtClean="0"/>
              <a:t>model</a:t>
            </a:r>
          </a:p>
          <a:p>
            <a:pPr marL="285750" indent="-285750">
              <a:buFont typeface="Arial" panose="020B0604020202020204" pitchFamily="34" charset="0"/>
              <a:buChar char="•"/>
            </a:pPr>
            <a:r>
              <a:rPr lang="en-US" dirty="0" smtClean="0"/>
              <a:t>use the best parameter to fit the model</a:t>
            </a:r>
          </a:p>
          <a:p>
            <a:pPr marL="285750" indent="-285750">
              <a:buFont typeface="Arial" panose="020B0604020202020204" pitchFamily="34" charset="0"/>
              <a:buChar char="•"/>
            </a:pPr>
            <a:r>
              <a:rPr lang="en-US" dirty="0" smtClean="0"/>
              <a:t>predict our model using test dataset</a:t>
            </a:r>
            <a:endParaRPr lang="en-US" dirty="0"/>
          </a:p>
        </p:txBody>
      </p:sp>
      <p:sp>
        <p:nvSpPr>
          <p:cNvPr id="35" name="TextBox 34"/>
          <p:cNvSpPr txBox="1"/>
          <p:nvPr/>
        </p:nvSpPr>
        <p:spPr>
          <a:xfrm>
            <a:off x="648210" y="1824223"/>
            <a:ext cx="4589418" cy="2862322"/>
          </a:xfrm>
          <a:prstGeom prst="rect">
            <a:avLst/>
          </a:prstGeom>
          <a:noFill/>
        </p:spPr>
        <p:txBody>
          <a:bodyPr wrap="square" rtlCol="0">
            <a:spAutoFit/>
          </a:bodyPr>
          <a:lstStyle/>
          <a:p>
            <a:r>
              <a:rPr lang="en-US" dirty="0" smtClean="0"/>
              <a:t>Machine learning method to build model</a:t>
            </a:r>
          </a:p>
          <a:p>
            <a:endParaRPr lang="en-US" dirty="0" smtClean="0"/>
          </a:p>
          <a:p>
            <a:pPr marL="742950" lvl="1" indent="-285750">
              <a:lnSpc>
                <a:spcPct val="150000"/>
              </a:lnSpc>
              <a:buFont typeface="Wingdings" panose="05000000000000000000" pitchFamily="2" charset="2"/>
              <a:buChar char="q"/>
            </a:pPr>
            <a:r>
              <a:rPr lang="en-US" dirty="0" smtClean="0"/>
              <a:t>K-Nearest Neighbors</a:t>
            </a:r>
          </a:p>
          <a:p>
            <a:pPr marL="742950" lvl="1" indent="-285750">
              <a:lnSpc>
                <a:spcPct val="150000"/>
              </a:lnSpc>
              <a:buFont typeface="Wingdings" panose="05000000000000000000" pitchFamily="2" charset="2"/>
              <a:buChar char="q"/>
            </a:pPr>
            <a:r>
              <a:rPr lang="en-US" dirty="0"/>
              <a:t>Regression Tree</a:t>
            </a:r>
          </a:p>
          <a:p>
            <a:pPr marL="742950" lvl="1" indent="-285750">
              <a:lnSpc>
                <a:spcPct val="150000"/>
              </a:lnSpc>
              <a:buFont typeface="Wingdings" panose="05000000000000000000" pitchFamily="2" charset="2"/>
              <a:buChar char="q"/>
            </a:pPr>
            <a:r>
              <a:rPr lang="en-US" dirty="0"/>
              <a:t>Neural </a:t>
            </a:r>
            <a:r>
              <a:rPr lang="en-US" dirty="0" smtClean="0"/>
              <a:t>Network</a:t>
            </a:r>
          </a:p>
          <a:p>
            <a:pPr marL="742950" lvl="1" indent="-285750">
              <a:lnSpc>
                <a:spcPct val="150000"/>
              </a:lnSpc>
              <a:buFont typeface="Wingdings" panose="05000000000000000000" pitchFamily="2" charset="2"/>
              <a:buChar char="q"/>
            </a:pPr>
            <a:r>
              <a:rPr lang="en-US" dirty="0"/>
              <a:t>Random </a:t>
            </a:r>
            <a:r>
              <a:rPr lang="en-US" dirty="0" err="1"/>
              <a:t>Foreset</a:t>
            </a:r>
            <a:endParaRPr lang="en-US" dirty="0"/>
          </a:p>
          <a:p>
            <a:endParaRPr lang="en-US" b="1" dirty="0"/>
          </a:p>
          <a:p>
            <a:endParaRPr lang="en-US" b="1" dirty="0"/>
          </a:p>
        </p:txBody>
      </p:sp>
      <p:sp>
        <p:nvSpPr>
          <p:cNvPr id="36" name="Right Arrow 35"/>
          <p:cNvSpPr/>
          <p:nvPr/>
        </p:nvSpPr>
        <p:spPr>
          <a:xfrm>
            <a:off x="4315090" y="2814570"/>
            <a:ext cx="1105988" cy="264993"/>
          </a:xfrm>
          <a:prstGeom prs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pic>
        <p:nvPicPr>
          <p:cNvPr id="38" name="Picture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107" y="4894795"/>
            <a:ext cx="7630421" cy="1619216"/>
          </a:xfrm>
          <a:prstGeom prst="rect">
            <a:avLst/>
          </a:prstGeom>
        </p:spPr>
      </p:pic>
      <p:sp>
        <p:nvSpPr>
          <p:cNvPr id="39" name="TextBox 38"/>
          <p:cNvSpPr txBox="1"/>
          <p:nvPr/>
        </p:nvSpPr>
        <p:spPr>
          <a:xfrm>
            <a:off x="836022" y="4317213"/>
            <a:ext cx="1698171" cy="369332"/>
          </a:xfrm>
          <a:prstGeom prst="rect">
            <a:avLst/>
          </a:prstGeom>
          <a:noFill/>
        </p:spPr>
        <p:txBody>
          <a:bodyPr wrap="square" rtlCol="0">
            <a:spAutoFit/>
          </a:bodyPr>
          <a:lstStyle/>
          <a:p>
            <a:r>
              <a:rPr lang="en-US" dirty="0" smtClean="0"/>
              <a:t>3) Evaluation</a:t>
            </a:r>
            <a:endParaRPr lang="en-US" dirty="0"/>
          </a:p>
        </p:txBody>
      </p:sp>
    </p:spTree>
    <p:extLst>
      <p:ext uri="{BB962C8B-B14F-4D97-AF65-F5344CB8AC3E}">
        <p14:creationId xmlns:p14="http://schemas.microsoft.com/office/powerpoint/2010/main" val="3388568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711956" y="265743"/>
            <a:ext cx="6860404" cy="584775"/>
          </a:xfrm>
          <a:prstGeom prst="rect">
            <a:avLst/>
          </a:prstGeom>
        </p:spPr>
        <p:txBody>
          <a:bodyPr wrap="none">
            <a:spAutoFit/>
          </a:bodyPr>
          <a:lstStyle/>
          <a:p>
            <a:pPr marL="457200" indent="-457200">
              <a:buFont typeface="Arial" panose="020B0604020202020204" pitchFamily="34" charset="0"/>
              <a:buChar char="•"/>
            </a:pPr>
            <a:r>
              <a:rPr lang="en-US" sz="3200" b="1" dirty="0"/>
              <a:t>Conclusion and Future Improvement</a:t>
            </a:r>
            <a:endParaRPr lang="en-US" sz="3200" b="1" dirty="0"/>
          </a:p>
        </p:txBody>
      </p:sp>
      <p:sp>
        <p:nvSpPr>
          <p:cNvPr id="3" name="Rectangle 2"/>
          <p:cNvSpPr/>
          <p:nvPr/>
        </p:nvSpPr>
        <p:spPr>
          <a:xfrm>
            <a:off x="1007764" y="1485202"/>
            <a:ext cx="1276311" cy="369332"/>
          </a:xfrm>
          <a:prstGeom prst="rect">
            <a:avLst/>
          </a:prstGeom>
        </p:spPr>
        <p:txBody>
          <a:bodyPr wrap="none">
            <a:spAutoFit/>
          </a:bodyPr>
          <a:lstStyle/>
          <a:p>
            <a:r>
              <a:rPr lang="en-US" b="1" dirty="0">
                <a:solidFill>
                  <a:srgbClr val="FF0000"/>
                </a:solidFill>
              </a:rPr>
              <a:t>Conclusion</a:t>
            </a:r>
            <a:r>
              <a:rPr lang="en-US" b="1" dirty="0"/>
              <a:t> </a:t>
            </a:r>
            <a:endParaRPr lang="en-US" dirty="0"/>
          </a:p>
        </p:txBody>
      </p:sp>
      <p:sp>
        <p:nvSpPr>
          <p:cNvPr id="14" name="Rectangle 13"/>
          <p:cNvSpPr/>
          <p:nvPr/>
        </p:nvSpPr>
        <p:spPr>
          <a:xfrm>
            <a:off x="711956" y="2193616"/>
            <a:ext cx="9866811" cy="2862322"/>
          </a:xfrm>
          <a:prstGeom prst="rect">
            <a:avLst/>
          </a:prstGeom>
        </p:spPr>
        <p:txBody>
          <a:bodyPr wrap="square">
            <a:spAutoFit/>
          </a:bodyPr>
          <a:lstStyle/>
          <a:p>
            <a:pPr marL="285750" indent="-285750" algn="just">
              <a:buFont typeface="Arial" panose="020B0604020202020204" pitchFamily="34" charset="0"/>
              <a:buChar char="•"/>
            </a:pPr>
            <a:r>
              <a:rPr lang="en-US" dirty="0"/>
              <a:t>The overall air quality has been improved from 2015 to 2017. Summer time shows a better air quality among the four seasons.</a:t>
            </a:r>
          </a:p>
          <a:p>
            <a:pPr marL="285750" indent="-285750" algn="just">
              <a:buFont typeface="Arial" panose="020B0604020202020204" pitchFamily="34" charset="0"/>
              <a:buChar char="•"/>
            </a:pPr>
            <a:r>
              <a:rPr lang="en-US" dirty="0"/>
              <a:t>Beijing has the worst air quality index while Kunming has the lowest air quality index in the past three years.</a:t>
            </a:r>
          </a:p>
          <a:p>
            <a:pPr marL="285750" indent="-285750" algn="just">
              <a:buFont typeface="Arial" panose="020B0604020202020204" pitchFamily="34" charset="0"/>
              <a:buChar char="•"/>
            </a:pPr>
            <a:r>
              <a:rPr lang="en-US" dirty="0"/>
              <a:t>PM2.5, PM10 and CO concentration have the strong impact on the air quality index (AQI) based on the </a:t>
            </a:r>
            <a:r>
              <a:rPr lang="en-US" dirty="0" err="1"/>
              <a:t>correlationship</a:t>
            </a:r>
            <a:r>
              <a:rPr lang="en-US" dirty="0"/>
              <a:t> analysis and random forest feature selection.</a:t>
            </a:r>
          </a:p>
          <a:p>
            <a:pPr marL="285750" indent="-285750" algn="just">
              <a:buFont typeface="Arial" panose="020B0604020202020204" pitchFamily="34" charset="0"/>
              <a:buChar char="•"/>
            </a:pPr>
            <a:r>
              <a:rPr lang="en-US" dirty="0"/>
              <a:t>According to the regression analysis, R squared value of the model is 0.989, which means a strong linear relationship between the AQI and other factors.</a:t>
            </a:r>
          </a:p>
          <a:p>
            <a:pPr marL="285750" indent="-285750" algn="just">
              <a:buFont typeface="Arial" panose="020B0604020202020204" pitchFamily="34" charset="0"/>
              <a:buChar char="•"/>
            </a:pPr>
            <a:r>
              <a:rPr lang="en-US" dirty="0"/>
              <a:t>Prediction modeling utilizes the K-NN, regression tree, neural network and random forest algorithms to predict the AQI by weather factors. It shows that the random forest has the highest performance.</a:t>
            </a:r>
          </a:p>
        </p:txBody>
      </p:sp>
    </p:spTree>
    <p:extLst>
      <p:ext uri="{BB962C8B-B14F-4D97-AF65-F5344CB8AC3E}">
        <p14:creationId xmlns:p14="http://schemas.microsoft.com/office/powerpoint/2010/main" val="42242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p:cNvSpPr/>
          <p:nvPr/>
        </p:nvSpPr>
        <p:spPr>
          <a:xfrm>
            <a:off x="1120632" y="2080067"/>
            <a:ext cx="9585829" cy="3416320"/>
          </a:xfrm>
          <a:prstGeom prst="rect">
            <a:avLst/>
          </a:prstGeom>
        </p:spPr>
        <p:txBody>
          <a:bodyPr wrap="none">
            <a:spAutoFit/>
          </a:bodyPr>
          <a:lstStyle/>
          <a:p>
            <a:r>
              <a:rPr lang="en-US" dirty="0"/>
              <a:t>The cause of air quality has been determined in this project. PM2.5, PM10 and CO concentrations </a:t>
            </a:r>
            <a:endParaRPr lang="en-US" dirty="0" smtClean="0"/>
          </a:p>
          <a:p>
            <a:r>
              <a:rPr lang="en-US" dirty="0" smtClean="0"/>
              <a:t>play </a:t>
            </a:r>
            <a:r>
              <a:rPr lang="en-US" dirty="0"/>
              <a:t>a significant role in air quality. </a:t>
            </a:r>
            <a:r>
              <a:rPr lang="en-US" dirty="0" smtClean="0"/>
              <a:t>Some recommendation are as follows:</a:t>
            </a:r>
          </a:p>
          <a:p>
            <a:pPr marL="742950" lvl="1" indent="-285750">
              <a:buFont typeface="Arial" panose="020B0604020202020204" pitchFamily="34" charset="0"/>
              <a:buChar char="•"/>
            </a:pPr>
            <a:r>
              <a:rPr lang="en-US" dirty="0" smtClean="0"/>
              <a:t>Restrict </a:t>
            </a:r>
            <a:r>
              <a:rPr lang="en-US" dirty="0"/>
              <a:t>the new cars growth</a:t>
            </a:r>
          </a:p>
          <a:p>
            <a:pPr marL="742950" lvl="1" indent="-285750">
              <a:buFont typeface="Arial" panose="020B0604020202020204" pitchFamily="34" charset="0"/>
              <a:buChar char="•"/>
            </a:pPr>
            <a:r>
              <a:rPr lang="en-US" dirty="0"/>
              <a:t>Develop the environmental energy-efficient vehicles</a:t>
            </a:r>
          </a:p>
          <a:p>
            <a:pPr marL="742950" lvl="1" indent="-285750">
              <a:buFont typeface="Arial" panose="020B0604020202020204" pitchFamily="34" charset="0"/>
              <a:buChar char="•"/>
            </a:pPr>
            <a:r>
              <a:rPr lang="en-US" dirty="0"/>
              <a:t>Shut down the polluting factories</a:t>
            </a:r>
          </a:p>
          <a:p>
            <a:pPr marL="742950" lvl="1" indent="-285750">
              <a:buFont typeface="Arial" panose="020B0604020202020204" pitchFamily="34" charset="0"/>
              <a:buChar char="•"/>
            </a:pPr>
            <a:r>
              <a:rPr lang="en-US" dirty="0"/>
              <a:t>Reduce burning fossil fuels like coal</a:t>
            </a:r>
            <a:r>
              <a:rPr lang="en-US" dirty="0" smtClean="0"/>
              <a:t>.</a:t>
            </a:r>
          </a:p>
          <a:p>
            <a:pPr marL="742950" lvl="1" indent="-285750">
              <a:buFont typeface="Arial" panose="020B0604020202020204" pitchFamily="34" charset="0"/>
              <a:buChar char="•"/>
            </a:pPr>
            <a:endParaRPr lang="en-US" dirty="0" smtClean="0"/>
          </a:p>
          <a:p>
            <a:r>
              <a:rPr lang="en-US" dirty="0"/>
              <a:t>The benefits of this project include:</a:t>
            </a:r>
          </a:p>
          <a:p>
            <a:pPr marL="742950" lvl="1" indent="-285750">
              <a:buFont typeface="Arial" panose="020B0604020202020204" pitchFamily="34" charset="0"/>
              <a:buChar char="•"/>
            </a:pPr>
            <a:r>
              <a:rPr lang="en-US" dirty="0"/>
              <a:t>Find the cause of influencing the air quality by analyzing the data</a:t>
            </a:r>
          </a:p>
          <a:p>
            <a:pPr marL="742950" lvl="1" indent="-285750">
              <a:buFont typeface="Arial" panose="020B0604020202020204" pitchFamily="34" charset="0"/>
              <a:buChar char="•"/>
            </a:pPr>
            <a:r>
              <a:rPr lang="en-US" dirty="0"/>
              <a:t>Provide the useful information to the government and environmental protection agency </a:t>
            </a:r>
            <a:r>
              <a:rPr lang="en-US" dirty="0" smtClean="0"/>
              <a:t>to</a:t>
            </a:r>
          </a:p>
          <a:p>
            <a:pPr lvl="1"/>
            <a:r>
              <a:rPr lang="en-US" dirty="0"/>
              <a:t> </a:t>
            </a:r>
            <a:r>
              <a:rPr lang="en-US" dirty="0" smtClean="0"/>
              <a:t>     </a:t>
            </a:r>
            <a:r>
              <a:rPr lang="en-US" dirty="0"/>
              <a:t>conduct relative research</a:t>
            </a:r>
          </a:p>
          <a:p>
            <a:pPr marL="742950" lvl="1" indent="-285750">
              <a:buFont typeface="Arial" panose="020B0604020202020204" pitchFamily="34" charset="0"/>
              <a:buChar char="•"/>
            </a:pPr>
            <a:r>
              <a:rPr lang="en-US" dirty="0"/>
              <a:t>Improve the </a:t>
            </a:r>
            <a:r>
              <a:rPr lang="en-US" dirty="0" err="1"/>
              <a:t>lifehood</a:t>
            </a:r>
            <a:r>
              <a:rPr lang="en-US" dirty="0"/>
              <a:t> of the people and reduce the risk of </a:t>
            </a:r>
            <a:r>
              <a:rPr lang="en-US" dirty="0" err="1"/>
              <a:t>diabets</a:t>
            </a:r>
            <a:r>
              <a:rPr lang="en-US" dirty="0"/>
              <a:t>, heart </a:t>
            </a:r>
            <a:r>
              <a:rPr lang="en-US" dirty="0" err="1"/>
              <a:t>disearse</a:t>
            </a:r>
            <a:r>
              <a:rPr lang="en-US" dirty="0"/>
              <a:t> and </a:t>
            </a:r>
            <a:r>
              <a:rPr lang="en-US" dirty="0" smtClean="0"/>
              <a:t>cancer</a:t>
            </a:r>
            <a:endParaRPr lang="en-US" dirty="0"/>
          </a:p>
        </p:txBody>
      </p:sp>
      <p:sp>
        <p:nvSpPr>
          <p:cNvPr id="3" name="Rectangle 2"/>
          <p:cNvSpPr/>
          <p:nvPr/>
        </p:nvSpPr>
        <p:spPr>
          <a:xfrm>
            <a:off x="868083" y="1284906"/>
            <a:ext cx="2165273" cy="369332"/>
          </a:xfrm>
          <a:prstGeom prst="rect">
            <a:avLst/>
          </a:prstGeom>
        </p:spPr>
        <p:txBody>
          <a:bodyPr wrap="none">
            <a:spAutoFit/>
          </a:bodyPr>
          <a:lstStyle/>
          <a:p>
            <a:r>
              <a:rPr lang="en-US" b="1" dirty="0">
                <a:solidFill>
                  <a:srgbClr val="FF0000"/>
                </a:solidFill>
              </a:rPr>
              <a:t>Future Improvement</a:t>
            </a:r>
            <a:endParaRPr lang="en-US" dirty="0">
              <a:solidFill>
                <a:srgbClr val="FF0000"/>
              </a:solidFill>
            </a:endParaRPr>
          </a:p>
        </p:txBody>
      </p:sp>
    </p:spTree>
    <p:extLst>
      <p:ext uri="{BB962C8B-B14F-4D97-AF65-F5344CB8AC3E}">
        <p14:creationId xmlns:p14="http://schemas.microsoft.com/office/powerpoint/2010/main" val="3204889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neywell Theme">
  <a:themeElements>
    <a:clrScheme name="Custom 2">
      <a:dk1>
        <a:sysClr val="windowText" lastClr="000000"/>
      </a:dk1>
      <a:lt1>
        <a:sysClr val="window" lastClr="FFFFFF"/>
      </a:lt1>
      <a:dk2>
        <a:srgbClr val="7F7F7F"/>
      </a:dk2>
      <a:lt2>
        <a:srgbClr val="E6E6E6"/>
      </a:lt2>
      <a:accent1>
        <a:srgbClr val="0077B4"/>
      </a:accent1>
      <a:accent2>
        <a:srgbClr val="C61A20"/>
      </a:accent2>
      <a:accent3>
        <a:srgbClr val="45886E"/>
      </a:accent3>
      <a:accent4>
        <a:srgbClr val="753D7B"/>
      </a:accent4>
      <a:accent5>
        <a:srgbClr val="F4B62E"/>
      </a:accent5>
      <a:accent6>
        <a:srgbClr val="DA5120"/>
      </a:accent6>
      <a:hlink>
        <a:srgbClr val="252D30"/>
      </a:hlink>
      <a:folHlink>
        <a:srgbClr val="C935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Honeywell PPT Template 4x3 Beta 6-22-15" id="{A8C61A7A-0AA1-4CFB-88B9-28A0B17BE609}" vid="{5BFD8605-A2C9-4411-AF6D-A560C33B96D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8742</TotalTime>
  <Words>907</Words>
  <Application>Microsoft Office PowerPoint</Application>
  <PresentationFormat>Custom</PresentationFormat>
  <Paragraphs>132</Paragraphs>
  <Slides>11</Slides>
  <Notes>1</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Honeywell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Missouri University of Science and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Xiong, Lianghua</dc:creator>
  <cp:lastModifiedBy>Wu, Hao (S&amp;T-Student)</cp:lastModifiedBy>
  <cp:revision>313</cp:revision>
  <dcterms:created xsi:type="dcterms:W3CDTF">2017-02-03T04:22:43Z</dcterms:created>
  <dcterms:modified xsi:type="dcterms:W3CDTF">2018-04-28T04:13:11Z</dcterms:modified>
</cp:coreProperties>
</file>